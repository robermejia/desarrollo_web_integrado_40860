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x="18288000" cy="10287000"/>
  <p:notesSz cx="6858000" cy="9144000"/>
  <p:embeddedFontLst>
    <p:embeddedFont>
      <p:font typeface="Montaser Arabic Ultra-Bold" charset="1" panose="00000900000000000000"/>
      <p:regular r:id="rId46"/>
    </p:embeddedFont>
    <p:embeddedFont>
      <p:font typeface="Montserrat Bold" charset="1" panose="00000800000000000000"/>
      <p:regular r:id="rId47"/>
    </p:embeddedFont>
    <p:embeddedFont>
      <p:font typeface="Montserrat" charset="1" panose="00000500000000000000"/>
      <p:regular r:id="rId48"/>
    </p:embeddedFont>
    <p:embeddedFont>
      <p:font typeface="Montaser Arabic Bold" charset="1" panose="00000800000000000000"/>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14.jpeg" Type="http://schemas.openxmlformats.org/officeDocument/2006/relationships/image"/><Relationship Id="rId7" Target="../media/image15.jpeg" Type="http://schemas.openxmlformats.org/officeDocument/2006/relationships/image"/><Relationship Id="rId8" Target="../media/image1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png" Type="http://schemas.openxmlformats.org/officeDocument/2006/relationships/image"/><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2" Target="../media/image6.jpe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24.jpeg" Type="http://schemas.openxmlformats.org/officeDocument/2006/relationships/image"/><Relationship Id="rId8" Target="../media/image4.png" Type="http://schemas.openxmlformats.org/officeDocument/2006/relationships/image"/><Relationship Id="rId9"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2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3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4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4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42.png" Type="http://schemas.openxmlformats.org/officeDocument/2006/relationships/image"/><Relationship Id="rId7" Target="../media/image4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44.png" Type="http://schemas.openxmlformats.org/officeDocument/2006/relationships/image"/><Relationship Id="rId7" Target="../media/image45.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46.png" Type="http://schemas.openxmlformats.org/officeDocument/2006/relationships/image"/><Relationship Id="rId7" Target="../media/image47.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48.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49.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5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51.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52.png" Type="http://schemas.openxmlformats.org/officeDocument/2006/relationships/image"/><Relationship Id="rId7" Target="../media/image53.png" Type="http://schemas.openxmlformats.org/officeDocument/2006/relationships/image"/><Relationship Id="rId8" Target="../media/image54.png" Type="http://schemas.openxmlformats.org/officeDocument/2006/relationships/image"/><Relationship Id="rId9" Target="../media/image55.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5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5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58.png" Type="http://schemas.openxmlformats.org/officeDocument/2006/relationships/image"/><Relationship Id="rId7" Target="../media/image59.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0.png" Type="http://schemas.openxmlformats.org/officeDocument/2006/relationships/image"/><Relationship Id="rId7" Target="../media/image61.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2.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3.png" Type="http://schemas.openxmlformats.org/officeDocument/2006/relationships/image"/><Relationship Id="rId7" Target="../media/image64.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5.png" Type="http://schemas.openxmlformats.org/officeDocument/2006/relationships/image"/><Relationship Id="rId7" Target="../media/image66.png" Type="http://schemas.openxmlformats.org/officeDocument/2006/relationships/image"/><Relationship Id="rId8" Target="../media/image67.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8.jpeg" Type="http://schemas.openxmlformats.org/officeDocument/2006/relationships/image"/><Relationship Id="rId6" Target="../media/image69.jpeg" Type="http://schemas.openxmlformats.org/officeDocument/2006/relationships/image"/><Relationship Id="rId7" Target="../media/image4.png" Type="http://schemas.openxmlformats.org/officeDocument/2006/relationships/image"/><Relationship Id="rId8" Target="../media/image5.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55400" t="-25884" r="-8796" b="0"/>
            </a:stretch>
          </a:blipFill>
        </p:spPr>
      </p:sp>
      <p:grpSp>
        <p:nvGrpSpPr>
          <p:cNvPr name="Group 3" id="3"/>
          <p:cNvGrpSpPr/>
          <p:nvPr/>
        </p:nvGrpSpPr>
        <p:grpSpPr>
          <a:xfrm rot="0">
            <a:off x="0" y="0"/>
            <a:ext cx="10265624" cy="10287000"/>
            <a:chOff x="0" y="0"/>
            <a:chExt cx="2703703" cy="2709333"/>
          </a:xfrm>
        </p:grpSpPr>
        <p:sp>
          <p:nvSpPr>
            <p:cNvPr name="Freeform 4" id="4"/>
            <p:cNvSpPr/>
            <p:nvPr/>
          </p:nvSpPr>
          <p:spPr>
            <a:xfrm flipH="false" flipV="false" rot="0">
              <a:off x="0" y="0"/>
              <a:ext cx="2703703" cy="2709333"/>
            </a:xfrm>
            <a:custGeom>
              <a:avLst/>
              <a:gdLst/>
              <a:ahLst/>
              <a:cxnLst/>
              <a:rect r="r" b="b" t="t" l="l"/>
              <a:pathLst>
                <a:path h="2709333" w="2703703">
                  <a:moveTo>
                    <a:pt x="0" y="0"/>
                  </a:moveTo>
                  <a:lnTo>
                    <a:pt x="2703703" y="0"/>
                  </a:lnTo>
                  <a:lnTo>
                    <a:pt x="2703703" y="2709333"/>
                  </a:lnTo>
                  <a:lnTo>
                    <a:pt x="0" y="2709333"/>
                  </a:lnTo>
                  <a:close/>
                </a:path>
              </a:pathLst>
            </a:custGeom>
            <a:gradFill rotWithShape="true">
              <a:gsLst>
                <a:gs pos="0">
                  <a:srgbClr val="000000">
                    <a:alpha val="100000"/>
                  </a:srgbClr>
                </a:gs>
                <a:gs pos="33333">
                  <a:srgbClr val="000000">
                    <a:alpha val="100000"/>
                  </a:srgbClr>
                </a:gs>
                <a:gs pos="66667">
                  <a:srgbClr val="000000">
                    <a:alpha val="82500"/>
                  </a:srgbClr>
                </a:gs>
                <a:gs pos="100000">
                  <a:srgbClr val="000000">
                    <a:alpha val="0"/>
                  </a:srgbClr>
                </a:gs>
              </a:gsLst>
              <a:lin ang="0"/>
            </a:gradFill>
          </p:spPr>
        </p:sp>
        <p:sp>
          <p:nvSpPr>
            <p:cNvPr name="TextBox 5" id="5"/>
            <p:cNvSpPr txBox="true"/>
            <p:nvPr/>
          </p:nvSpPr>
          <p:spPr>
            <a:xfrm>
              <a:off x="0" y="-19050"/>
              <a:ext cx="2703703" cy="2728383"/>
            </a:xfrm>
            <a:prstGeom prst="rect">
              <a:avLst/>
            </a:prstGeom>
          </p:spPr>
          <p:txBody>
            <a:bodyPr anchor="ctr" rtlCol="false" tIns="50800" lIns="50800" bIns="50800" rIns="50800"/>
            <a:lstStyle/>
            <a:p>
              <a:pPr algn="ctr">
                <a:lnSpc>
                  <a:spcPts val="2898"/>
                </a:lnSpc>
              </a:pPr>
            </a:p>
          </p:txBody>
        </p:sp>
      </p:grpSp>
      <p:sp>
        <p:nvSpPr>
          <p:cNvPr name="Freeform 6" id="6"/>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100037" y="4393913"/>
            <a:ext cx="4836963" cy="846468"/>
          </a:xfrm>
          <a:custGeom>
            <a:avLst/>
            <a:gdLst/>
            <a:ahLst/>
            <a:cxnLst/>
            <a:rect r="r" b="b" t="t" l="l"/>
            <a:pathLst>
              <a:path h="846468" w="4836963">
                <a:moveTo>
                  <a:pt x="0" y="0"/>
                </a:moveTo>
                <a:lnTo>
                  <a:pt x="4836963" y="0"/>
                </a:lnTo>
                <a:lnTo>
                  <a:pt x="4836963" y="846468"/>
                </a:lnTo>
                <a:lnTo>
                  <a:pt x="0" y="846468"/>
                </a:lnTo>
                <a:lnTo>
                  <a:pt x="0" y="0"/>
                </a:lnTo>
                <a:close/>
              </a:path>
            </a:pathLst>
          </a:custGeom>
          <a:blipFill>
            <a:blip r:embed="rId5"/>
            <a:stretch>
              <a:fillRect l="0" t="0" r="0" b="0"/>
            </a:stretch>
          </a:blipFill>
        </p:spPr>
      </p:sp>
      <p:sp>
        <p:nvSpPr>
          <p:cNvPr name="Freeform 8" id="8"/>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6"/>
            <a:stretch>
              <a:fillRect l="0" t="0" r="0" b="0"/>
            </a:stretch>
          </a:blipFill>
        </p:spPr>
      </p:sp>
      <p:sp>
        <p:nvSpPr>
          <p:cNvPr name="TextBox 9" id="9"/>
          <p:cNvSpPr txBox="true"/>
          <p:nvPr/>
        </p:nvSpPr>
        <p:spPr>
          <a:xfrm rot="0">
            <a:off x="1736738" y="2959520"/>
            <a:ext cx="7563560" cy="514350"/>
          </a:xfrm>
          <a:prstGeom prst="rect">
            <a:avLst/>
          </a:prstGeom>
        </p:spPr>
        <p:txBody>
          <a:bodyPr anchor="t" rtlCol="false" tIns="0" lIns="0" bIns="0" rIns="0">
            <a:spAutoFit/>
          </a:bodyPr>
          <a:lstStyle/>
          <a:p>
            <a:pPr algn="l">
              <a:lnSpc>
                <a:spcPts val="4200"/>
              </a:lnSpc>
              <a:spcBef>
                <a:spcPct val="0"/>
              </a:spcBef>
            </a:pPr>
            <a:r>
              <a:rPr lang="en-US" sz="3000" b="true">
                <a:solidFill>
                  <a:srgbClr val="FFFFFF"/>
                </a:solidFill>
                <a:latin typeface="Montaser Arabic Ultra-Bold"/>
                <a:ea typeface="Montaser Arabic Ultra-Bold"/>
                <a:cs typeface="Montaser Arabic Ultra-Bold"/>
                <a:sym typeface="Montaser Arabic Ultra-Bold"/>
              </a:rPr>
              <a:t>Curso: Desarrollo Web Integrado</a:t>
            </a:r>
          </a:p>
        </p:txBody>
      </p:sp>
      <p:sp>
        <p:nvSpPr>
          <p:cNvPr name="TextBox 10" id="10"/>
          <p:cNvSpPr txBox="true"/>
          <p:nvPr/>
        </p:nvSpPr>
        <p:spPr>
          <a:xfrm rot="0">
            <a:off x="1736738" y="1947965"/>
            <a:ext cx="8200731" cy="1068705"/>
          </a:xfrm>
          <a:prstGeom prst="rect">
            <a:avLst/>
          </a:prstGeom>
        </p:spPr>
        <p:txBody>
          <a:bodyPr anchor="t" rtlCol="false" tIns="0" lIns="0" bIns="0" rIns="0">
            <a:spAutoFit/>
          </a:bodyPr>
          <a:lstStyle/>
          <a:p>
            <a:pPr algn="l">
              <a:lnSpc>
                <a:spcPts val="8580"/>
              </a:lnSpc>
            </a:pPr>
            <a:r>
              <a:rPr lang="en-US" sz="6600" b="true">
                <a:solidFill>
                  <a:srgbClr val="FFFFFF"/>
                </a:solidFill>
                <a:latin typeface="Montserrat Bold"/>
                <a:ea typeface="Montserrat Bold"/>
                <a:cs typeface="Montserrat Bold"/>
                <a:sym typeface="Montserrat Bold"/>
              </a:rPr>
              <a:t>Proyecto Final</a:t>
            </a:r>
          </a:p>
        </p:txBody>
      </p:sp>
      <p:grpSp>
        <p:nvGrpSpPr>
          <p:cNvPr name="Group 11" id="11"/>
          <p:cNvGrpSpPr/>
          <p:nvPr/>
        </p:nvGrpSpPr>
        <p:grpSpPr>
          <a:xfrm rot="0">
            <a:off x="1846873" y="3830636"/>
            <a:ext cx="8159319" cy="1105995"/>
            <a:chOff x="0" y="0"/>
            <a:chExt cx="10879092" cy="1474660"/>
          </a:xfrm>
        </p:grpSpPr>
        <p:grpSp>
          <p:nvGrpSpPr>
            <p:cNvPr name="Group 12" id="12"/>
            <p:cNvGrpSpPr/>
            <p:nvPr/>
          </p:nvGrpSpPr>
          <p:grpSpPr>
            <a:xfrm rot="0">
              <a:off x="3824641" y="354612"/>
              <a:ext cx="7054450" cy="1120048"/>
              <a:chOff x="0" y="0"/>
              <a:chExt cx="2559647" cy="406400"/>
            </a:xfrm>
          </p:grpSpPr>
          <p:sp>
            <p:nvSpPr>
              <p:cNvPr name="Freeform 13" id="13"/>
              <p:cNvSpPr/>
              <p:nvPr/>
            </p:nvSpPr>
            <p:spPr>
              <a:xfrm flipH="false" flipV="false" rot="0">
                <a:off x="0" y="0"/>
                <a:ext cx="2559647" cy="406400"/>
              </a:xfrm>
              <a:custGeom>
                <a:avLst/>
                <a:gdLst/>
                <a:ahLst/>
                <a:cxnLst/>
                <a:rect r="r" b="b" t="t" l="l"/>
                <a:pathLst>
                  <a:path h="406400" w="2559647">
                    <a:moveTo>
                      <a:pt x="2356447" y="0"/>
                    </a:moveTo>
                    <a:cubicBezTo>
                      <a:pt x="2468671" y="0"/>
                      <a:pt x="2559647" y="90976"/>
                      <a:pt x="2559647" y="203200"/>
                    </a:cubicBezTo>
                    <a:cubicBezTo>
                      <a:pt x="2559647" y="315424"/>
                      <a:pt x="2468671" y="406400"/>
                      <a:pt x="2356447"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14" id="14"/>
              <p:cNvSpPr txBox="true"/>
              <p:nvPr/>
            </p:nvSpPr>
            <p:spPr>
              <a:xfrm>
                <a:off x="0" y="-38100"/>
                <a:ext cx="2559647"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0" y="354612"/>
              <a:ext cx="4644121" cy="1120048"/>
              <a:chOff x="0" y="0"/>
              <a:chExt cx="1685080" cy="406400"/>
            </a:xfrm>
          </p:grpSpPr>
          <p:sp>
            <p:nvSpPr>
              <p:cNvPr name="Freeform 16" id="16"/>
              <p:cNvSpPr/>
              <p:nvPr/>
            </p:nvSpPr>
            <p:spPr>
              <a:xfrm flipH="false" flipV="false" rot="0">
                <a:off x="0" y="0"/>
                <a:ext cx="1685080" cy="406400"/>
              </a:xfrm>
              <a:custGeom>
                <a:avLst/>
                <a:gdLst/>
                <a:ahLst/>
                <a:cxnLst/>
                <a:rect r="r" b="b" t="t" l="l"/>
                <a:pathLst>
                  <a:path h="406400" w="1685080">
                    <a:moveTo>
                      <a:pt x="1481880" y="0"/>
                    </a:moveTo>
                    <a:cubicBezTo>
                      <a:pt x="1594104" y="0"/>
                      <a:pt x="1685080" y="90976"/>
                      <a:pt x="1685080" y="203200"/>
                    </a:cubicBezTo>
                    <a:cubicBezTo>
                      <a:pt x="1685080" y="315424"/>
                      <a:pt x="1594104" y="406400"/>
                      <a:pt x="1481880"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17" id="17"/>
              <p:cNvSpPr txBox="true"/>
              <p:nvPr/>
            </p:nvSpPr>
            <p:spPr>
              <a:xfrm>
                <a:off x="0" y="-38100"/>
                <a:ext cx="1685080"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377101" y="0"/>
              <a:ext cx="4052707" cy="709224"/>
            </a:xfrm>
            <a:custGeom>
              <a:avLst/>
              <a:gdLst/>
              <a:ahLst/>
              <a:cxnLst/>
              <a:rect r="r" b="b" t="t" l="l"/>
              <a:pathLst>
                <a:path h="709224" w="4052707">
                  <a:moveTo>
                    <a:pt x="0" y="0"/>
                  </a:moveTo>
                  <a:lnTo>
                    <a:pt x="4052707" y="0"/>
                  </a:lnTo>
                  <a:lnTo>
                    <a:pt x="4052707" y="709224"/>
                  </a:lnTo>
                  <a:lnTo>
                    <a:pt x="0" y="709224"/>
                  </a:lnTo>
                  <a:lnTo>
                    <a:pt x="0" y="0"/>
                  </a:lnTo>
                  <a:close/>
                </a:path>
              </a:pathLst>
            </a:custGeom>
            <a:blipFill>
              <a:blip r:embed="rId5"/>
              <a:stretch>
                <a:fillRect l="0" t="0" r="0" b="0"/>
              </a:stretch>
            </a:blipFill>
          </p:spPr>
        </p:sp>
        <p:sp>
          <p:nvSpPr>
            <p:cNvPr name="TextBox 19" id="19"/>
            <p:cNvSpPr txBox="true"/>
            <p:nvPr/>
          </p:nvSpPr>
          <p:spPr>
            <a:xfrm rot="0">
              <a:off x="108982" y="610916"/>
              <a:ext cx="4432932" cy="578866"/>
            </a:xfrm>
            <a:prstGeom prst="rect">
              <a:avLst/>
            </a:prstGeom>
          </p:spPr>
          <p:txBody>
            <a:bodyPr anchor="t" rtlCol="false" tIns="0" lIns="0" bIns="0" rIns="0">
              <a:spAutoFit/>
            </a:bodyPr>
            <a:lstStyle/>
            <a:p>
              <a:pPr algn="ctr">
                <a:lnSpc>
                  <a:spcPts val="3578"/>
                </a:lnSpc>
              </a:pPr>
              <a:r>
                <a:rPr lang="en-US" sz="2752">
                  <a:solidFill>
                    <a:srgbClr val="FFFFFF"/>
                  </a:solidFill>
                  <a:latin typeface="Montserrat"/>
                  <a:ea typeface="Montserrat"/>
                  <a:cs typeface="Montserrat"/>
                  <a:sym typeface="Montserrat"/>
                </a:rPr>
                <a:t>Docente:</a:t>
              </a:r>
            </a:p>
          </p:txBody>
        </p:sp>
        <p:sp>
          <p:nvSpPr>
            <p:cNvPr name="TextBox 20" id="20"/>
            <p:cNvSpPr txBox="true"/>
            <p:nvPr/>
          </p:nvSpPr>
          <p:spPr>
            <a:xfrm rot="0">
              <a:off x="4879924" y="573411"/>
              <a:ext cx="5549051" cy="578866"/>
            </a:xfrm>
            <a:prstGeom prst="rect">
              <a:avLst/>
            </a:prstGeom>
          </p:spPr>
          <p:txBody>
            <a:bodyPr anchor="t" rtlCol="false" tIns="0" lIns="0" bIns="0" rIns="0">
              <a:spAutoFit/>
            </a:bodyPr>
            <a:lstStyle/>
            <a:p>
              <a:pPr algn="l">
                <a:lnSpc>
                  <a:spcPts val="3578"/>
                </a:lnSpc>
              </a:pPr>
              <a:r>
                <a:rPr lang="en-US" sz="2752" b="true">
                  <a:solidFill>
                    <a:srgbClr val="FFFFFF"/>
                  </a:solidFill>
                  <a:latin typeface="Montserrat Bold"/>
                  <a:ea typeface="Montserrat Bold"/>
                  <a:cs typeface="Montserrat Bold"/>
                  <a:sym typeface="Montserrat Bold"/>
                </a:rPr>
                <a:t>Omar Saavedra</a:t>
              </a:r>
            </a:p>
          </p:txBody>
        </p:sp>
      </p:grpSp>
      <p:sp>
        <p:nvSpPr>
          <p:cNvPr name="TextBox 21" id="21"/>
          <p:cNvSpPr txBox="true"/>
          <p:nvPr/>
        </p:nvSpPr>
        <p:spPr>
          <a:xfrm rot="0">
            <a:off x="1846873" y="5722022"/>
            <a:ext cx="6349458" cy="3139971"/>
          </a:xfrm>
          <a:prstGeom prst="rect">
            <a:avLst/>
          </a:prstGeom>
        </p:spPr>
        <p:txBody>
          <a:bodyPr anchor="t" rtlCol="false" tIns="0" lIns="0" bIns="0" rIns="0">
            <a:spAutoFit/>
          </a:bodyPr>
          <a:lstStyle/>
          <a:p>
            <a:pPr algn="just">
              <a:lnSpc>
                <a:spcPts val="4146"/>
              </a:lnSpc>
              <a:spcBef>
                <a:spcPct val="0"/>
              </a:spcBef>
            </a:pPr>
            <a:r>
              <a:rPr lang="en-US" sz="3189">
                <a:solidFill>
                  <a:srgbClr val="FFFFFF"/>
                </a:solidFill>
                <a:latin typeface="Montserrat"/>
                <a:ea typeface="Montserrat"/>
                <a:cs typeface="Montserrat"/>
                <a:sym typeface="Montserrat"/>
              </a:rPr>
              <a:t>Integrantes:</a:t>
            </a:r>
          </a:p>
          <a:p>
            <a:pPr algn="just">
              <a:lnSpc>
                <a:spcPts val="4146"/>
              </a:lnSpc>
              <a:spcBef>
                <a:spcPct val="0"/>
              </a:spcBef>
            </a:pPr>
            <a:r>
              <a:rPr lang="en-US" sz="3189">
                <a:solidFill>
                  <a:srgbClr val="FFFFFF"/>
                </a:solidFill>
                <a:latin typeface="Montserrat"/>
                <a:ea typeface="Montserrat"/>
                <a:cs typeface="Montserrat"/>
                <a:sym typeface="Montserrat"/>
              </a:rPr>
              <a:t>Miguel Angel Velasquez Ysuiza</a:t>
            </a:r>
          </a:p>
          <a:p>
            <a:pPr algn="just">
              <a:lnSpc>
                <a:spcPts val="4146"/>
              </a:lnSpc>
              <a:spcBef>
                <a:spcPct val="0"/>
              </a:spcBef>
            </a:pPr>
            <a:r>
              <a:rPr lang="en-US" sz="3189">
                <a:solidFill>
                  <a:srgbClr val="FFFFFF"/>
                </a:solidFill>
                <a:latin typeface="Montserrat"/>
                <a:ea typeface="Montserrat"/>
                <a:cs typeface="Montserrat"/>
                <a:sym typeface="Montserrat"/>
              </a:rPr>
              <a:t>Roberto Agustin Mejía Collazos</a:t>
            </a:r>
          </a:p>
          <a:p>
            <a:pPr algn="just">
              <a:lnSpc>
                <a:spcPts val="4146"/>
              </a:lnSpc>
              <a:spcBef>
                <a:spcPct val="0"/>
              </a:spcBef>
            </a:pPr>
            <a:r>
              <a:rPr lang="en-US" sz="3189">
                <a:solidFill>
                  <a:srgbClr val="FFFFFF"/>
                </a:solidFill>
                <a:latin typeface="Montserrat"/>
                <a:ea typeface="Montserrat"/>
                <a:cs typeface="Montserrat"/>
                <a:sym typeface="Montserrat"/>
              </a:rPr>
              <a:t>Aarón Augusto Ortega López</a:t>
            </a:r>
          </a:p>
          <a:p>
            <a:pPr algn="just">
              <a:lnSpc>
                <a:spcPts val="4146"/>
              </a:lnSpc>
              <a:spcBef>
                <a:spcPct val="0"/>
              </a:spcBef>
            </a:pPr>
            <a:r>
              <a:rPr lang="en-US" sz="3189">
                <a:solidFill>
                  <a:srgbClr val="FFFFFF"/>
                </a:solidFill>
                <a:latin typeface="Montserrat"/>
                <a:ea typeface="Montserrat"/>
                <a:cs typeface="Montserrat"/>
                <a:sym typeface="Montserrat"/>
              </a:rPr>
              <a:t>Juan Omar Cristobal Flores</a:t>
            </a:r>
          </a:p>
          <a:p>
            <a:pPr algn="just">
              <a:lnSpc>
                <a:spcPts val="4146"/>
              </a:lnSpc>
              <a:spcBef>
                <a:spcPct val="0"/>
              </a:spcBef>
            </a:pPr>
            <a:r>
              <a:rPr lang="en-US" sz="3189">
                <a:solidFill>
                  <a:srgbClr val="FFFFFF"/>
                </a:solidFill>
                <a:latin typeface="Montserrat"/>
                <a:ea typeface="Montserrat"/>
                <a:cs typeface="Montserrat"/>
                <a:sym typeface="Montserrat"/>
              </a:rPr>
              <a:t>Reynaldo Minaya Condori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149323" y="5853122"/>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789972" y="775133"/>
            <a:ext cx="2104607" cy="507134"/>
          </a:xfrm>
          <a:custGeom>
            <a:avLst/>
            <a:gdLst/>
            <a:ahLst/>
            <a:cxnLst/>
            <a:rect r="r" b="b" t="t" l="l"/>
            <a:pathLst>
              <a:path h="507134" w="2104607">
                <a:moveTo>
                  <a:pt x="0" y="0"/>
                </a:moveTo>
                <a:lnTo>
                  <a:pt x="2104608" y="0"/>
                </a:lnTo>
                <a:lnTo>
                  <a:pt x="2104608" y="507134"/>
                </a:lnTo>
                <a:lnTo>
                  <a:pt x="0" y="507134"/>
                </a:lnTo>
                <a:lnTo>
                  <a:pt x="0" y="0"/>
                </a:lnTo>
                <a:close/>
              </a:path>
            </a:pathLst>
          </a:custGeom>
          <a:blipFill>
            <a:blip r:embed="rId5"/>
            <a:stretch>
              <a:fillRect l="0" t="0" r="0" b="0"/>
            </a:stretch>
          </a:blipFill>
        </p:spPr>
      </p:sp>
      <p:sp>
        <p:nvSpPr>
          <p:cNvPr name="TextBox 7" id="7"/>
          <p:cNvSpPr txBox="true"/>
          <p:nvPr/>
        </p:nvSpPr>
        <p:spPr>
          <a:xfrm rot="0">
            <a:off x="5825430" y="1746268"/>
            <a:ext cx="6637141" cy="827958"/>
          </a:xfrm>
          <a:prstGeom prst="rect">
            <a:avLst/>
          </a:prstGeom>
        </p:spPr>
        <p:txBody>
          <a:bodyPr anchor="t" rtlCol="false" tIns="0" lIns="0" bIns="0" rIns="0">
            <a:spAutoFit/>
          </a:bodyPr>
          <a:lstStyle/>
          <a:p>
            <a:pPr algn="ctr">
              <a:lnSpc>
                <a:spcPts val="6864"/>
              </a:lnSpc>
              <a:spcBef>
                <a:spcPct val="0"/>
              </a:spcBef>
            </a:pPr>
            <a:r>
              <a:rPr lang="en-US" b="true" sz="4903">
                <a:solidFill>
                  <a:srgbClr val="FFFFFF"/>
                </a:solidFill>
                <a:latin typeface="Montaser Arabic Ultra-Bold"/>
                <a:ea typeface="Montaser Arabic Ultra-Bold"/>
                <a:cs typeface="Montaser Arabic Ultra-Bold"/>
                <a:sym typeface="Montaser Arabic Ultra-Bold"/>
              </a:rPr>
              <a:t>INTRODUCCIÓN</a:t>
            </a:r>
          </a:p>
        </p:txBody>
      </p:sp>
      <p:sp>
        <p:nvSpPr>
          <p:cNvPr name="TextBox 8" id="8"/>
          <p:cNvSpPr txBox="true"/>
          <p:nvPr/>
        </p:nvSpPr>
        <p:spPr>
          <a:xfrm rot="0">
            <a:off x="1956081" y="5124450"/>
            <a:ext cx="7187919" cy="3556000"/>
          </a:xfrm>
          <a:prstGeom prst="rect">
            <a:avLst/>
          </a:prstGeom>
        </p:spPr>
        <p:txBody>
          <a:bodyPr anchor="t" rtlCol="false" tIns="0" lIns="0" bIns="0" rIns="0">
            <a:spAutoFit/>
          </a:bodyPr>
          <a:lstStyle/>
          <a:p>
            <a:pPr algn="just">
              <a:lnSpc>
                <a:spcPts val="2600"/>
              </a:lnSpc>
            </a:pPr>
            <a:r>
              <a:rPr lang="en-US" sz="2000">
                <a:solidFill>
                  <a:srgbClr val="FFFFFF"/>
                </a:solidFill>
                <a:latin typeface="Montserrat"/>
                <a:ea typeface="Montserrat"/>
                <a:cs typeface="Montserrat"/>
                <a:sym typeface="Montserrat"/>
              </a:rPr>
              <a:t>El presente proyecto tiene como propósito desarrollar una aplicación web de comercio electrónico para la empresa UTP Technology, con el fin de facilitar la venta de equipos tecnológicos en línea, como laptops, smartphones, periféricos y accesorios. Esta plataforma busca cubrir la necesidad actual de la empresa de contar con un sistema moderno, eficiente y seguro que le permita competir en el entorno digital, mejorar su gestión interna y brindar una experiencia satisfactoria a sus clientes.</a:t>
            </a:r>
          </a:p>
          <a:p>
            <a:pPr algn="just">
              <a:lnSpc>
                <a:spcPts val="2600"/>
              </a:lnSpc>
            </a:pPr>
          </a:p>
        </p:txBody>
      </p:sp>
      <p:sp>
        <p:nvSpPr>
          <p:cNvPr name="TextBox 9" id="9"/>
          <p:cNvSpPr txBox="true"/>
          <p:nvPr/>
        </p:nvSpPr>
        <p:spPr>
          <a:xfrm rot="0">
            <a:off x="1956081" y="3443140"/>
            <a:ext cx="7187919" cy="1700360"/>
          </a:xfrm>
          <a:prstGeom prst="rect">
            <a:avLst/>
          </a:prstGeom>
        </p:spPr>
        <p:txBody>
          <a:bodyPr anchor="t" rtlCol="false" tIns="0" lIns="0" bIns="0" rIns="0">
            <a:spAutoFit/>
          </a:bodyPr>
          <a:lstStyle/>
          <a:p>
            <a:pPr algn="l">
              <a:lnSpc>
                <a:spcPts val="3397"/>
              </a:lnSpc>
            </a:pPr>
            <a:r>
              <a:rPr lang="en-US" sz="2613" b="true">
                <a:solidFill>
                  <a:srgbClr val="04E1F9"/>
                </a:solidFill>
                <a:latin typeface="Montserrat Bold"/>
                <a:ea typeface="Montserrat Bold"/>
                <a:cs typeface="Montserrat Bold"/>
                <a:sym typeface="Montserrat Bold"/>
              </a:rPr>
              <a:t>DESARROLLO DE UN SITIO WEB DE ECOMMERS DE PRODUCTOS TECNOLOGICOS</a:t>
            </a:r>
          </a:p>
          <a:p>
            <a:pPr algn="l">
              <a:lnSpc>
                <a:spcPts val="3397"/>
              </a:lnSpc>
            </a:pPr>
          </a:p>
        </p:txBody>
      </p:sp>
      <p:sp>
        <p:nvSpPr>
          <p:cNvPr name="Freeform 10" id="10"/>
          <p:cNvSpPr/>
          <p:nvPr/>
        </p:nvSpPr>
        <p:spPr>
          <a:xfrm flipH="false" flipV="false" rot="0">
            <a:off x="10322489" y="3764659"/>
            <a:ext cx="6176000" cy="4454440"/>
          </a:xfrm>
          <a:custGeom>
            <a:avLst/>
            <a:gdLst/>
            <a:ahLst/>
            <a:cxnLst/>
            <a:rect r="r" b="b" t="t" l="l"/>
            <a:pathLst>
              <a:path h="4454440" w="6176000">
                <a:moveTo>
                  <a:pt x="0" y="0"/>
                </a:moveTo>
                <a:lnTo>
                  <a:pt x="6176000" y="0"/>
                </a:lnTo>
                <a:lnTo>
                  <a:pt x="6176000" y="4454440"/>
                </a:lnTo>
                <a:lnTo>
                  <a:pt x="0" y="4454440"/>
                </a:lnTo>
                <a:lnTo>
                  <a:pt x="0" y="0"/>
                </a:lnTo>
                <a:close/>
              </a:path>
            </a:pathLst>
          </a:custGeom>
          <a:blipFill>
            <a:blip r:embed="rId6"/>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939998"/>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5462023" y="4005197"/>
            <a:ext cx="7079524" cy="4716733"/>
          </a:xfrm>
          <a:custGeom>
            <a:avLst/>
            <a:gdLst/>
            <a:ahLst/>
            <a:cxnLst/>
            <a:rect r="r" b="b" t="t" l="l"/>
            <a:pathLst>
              <a:path h="4716733" w="7079524">
                <a:moveTo>
                  <a:pt x="0" y="0"/>
                </a:moveTo>
                <a:lnTo>
                  <a:pt x="7079524" y="0"/>
                </a:lnTo>
                <a:lnTo>
                  <a:pt x="7079524" y="4716733"/>
                </a:lnTo>
                <a:lnTo>
                  <a:pt x="0" y="4716733"/>
                </a:lnTo>
                <a:lnTo>
                  <a:pt x="0" y="0"/>
                </a:lnTo>
                <a:close/>
              </a:path>
            </a:pathLst>
          </a:custGeom>
          <a:blipFill>
            <a:blip r:embed="rId6"/>
            <a:stretch>
              <a:fillRect l="0" t="0" r="0" b="0"/>
            </a:stretch>
          </a:blipFill>
        </p:spPr>
      </p:sp>
      <p:sp>
        <p:nvSpPr>
          <p:cNvPr name="TextBox 8" id="8"/>
          <p:cNvSpPr txBox="true"/>
          <p:nvPr/>
        </p:nvSpPr>
        <p:spPr>
          <a:xfrm rot="0">
            <a:off x="744269" y="1651998"/>
            <a:ext cx="16515031" cy="1694733"/>
          </a:xfrm>
          <a:prstGeom prst="rect">
            <a:avLst/>
          </a:prstGeom>
        </p:spPr>
        <p:txBody>
          <a:bodyPr anchor="t" rtlCol="false" tIns="0" lIns="0" bIns="0" rIns="0">
            <a:spAutoFit/>
          </a:bodyPr>
          <a:lstStyle/>
          <a:p>
            <a:pPr algn="ctr">
              <a:lnSpc>
                <a:spcPts val="6864"/>
              </a:lnSpc>
            </a:pPr>
            <a:r>
              <a:rPr lang="en-US" sz="4903" b="true">
                <a:solidFill>
                  <a:srgbClr val="FFFFFF"/>
                </a:solidFill>
                <a:latin typeface="Montaser Arabic Ultra-Bold"/>
                <a:ea typeface="Montaser Arabic Ultra-Bold"/>
                <a:cs typeface="Montaser Arabic Ultra-Bold"/>
                <a:sym typeface="Montaser Arabic Ultra-Bold"/>
              </a:rPr>
              <a:t>5. DESPLIEGUE</a:t>
            </a:r>
          </a:p>
          <a:p>
            <a:pPr algn="l">
              <a:lnSpc>
                <a:spcPts val="6864"/>
              </a:lnSpc>
              <a:spcBef>
                <a:spcPct val="0"/>
              </a:spcBef>
            </a:pPr>
          </a:p>
        </p:txBody>
      </p:sp>
      <p:sp>
        <p:nvSpPr>
          <p:cNvPr name="TextBox 9" id="9"/>
          <p:cNvSpPr txBox="true"/>
          <p:nvPr/>
        </p:nvSpPr>
        <p:spPr>
          <a:xfrm rot="0">
            <a:off x="1743469" y="2915651"/>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Deploy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939998"/>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2435619" y="2950461"/>
            <a:ext cx="5817508" cy="6197134"/>
          </a:xfrm>
          <a:custGeom>
            <a:avLst/>
            <a:gdLst/>
            <a:ahLst/>
            <a:cxnLst/>
            <a:rect r="r" b="b" t="t" l="l"/>
            <a:pathLst>
              <a:path h="6197134" w="5817508">
                <a:moveTo>
                  <a:pt x="0" y="0"/>
                </a:moveTo>
                <a:lnTo>
                  <a:pt x="5817508" y="0"/>
                </a:lnTo>
                <a:lnTo>
                  <a:pt x="5817508" y="6197134"/>
                </a:lnTo>
                <a:lnTo>
                  <a:pt x="0" y="6197134"/>
                </a:lnTo>
                <a:lnTo>
                  <a:pt x="0" y="0"/>
                </a:lnTo>
                <a:close/>
              </a:path>
            </a:pathLst>
          </a:custGeom>
          <a:blipFill>
            <a:blip r:embed="rId6"/>
            <a:stretch>
              <a:fillRect l="0" t="0" r="0" b="0"/>
            </a:stretch>
          </a:blipFill>
        </p:spPr>
      </p:sp>
      <p:sp>
        <p:nvSpPr>
          <p:cNvPr name="Freeform 8" id="8"/>
          <p:cNvSpPr/>
          <p:nvPr/>
        </p:nvSpPr>
        <p:spPr>
          <a:xfrm flipH="false" flipV="false" rot="0">
            <a:off x="9144000" y="2950461"/>
            <a:ext cx="6953306" cy="6197134"/>
          </a:xfrm>
          <a:custGeom>
            <a:avLst/>
            <a:gdLst/>
            <a:ahLst/>
            <a:cxnLst/>
            <a:rect r="r" b="b" t="t" l="l"/>
            <a:pathLst>
              <a:path h="6197134" w="6953306">
                <a:moveTo>
                  <a:pt x="0" y="0"/>
                </a:moveTo>
                <a:lnTo>
                  <a:pt x="6953306" y="0"/>
                </a:lnTo>
                <a:lnTo>
                  <a:pt x="6953306" y="6197134"/>
                </a:lnTo>
                <a:lnTo>
                  <a:pt x="0" y="6197134"/>
                </a:lnTo>
                <a:lnTo>
                  <a:pt x="0" y="0"/>
                </a:lnTo>
                <a:close/>
              </a:path>
            </a:pathLst>
          </a:custGeom>
          <a:blipFill>
            <a:blip r:embed="rId7"/>
            <a:stretch>
              <a:fillRect l="0" t="0" r="0" b="0"/>
            </a:stretch>
          </a:blipFill>
        </p:spPr>
      </p:sp>
      <p:sp>
        <p:nvSpPr>
          <p:cNvPr name="TextBox 9" id="9"/>
          <p:cNvSpPr txBox="true"/>
          <p:nvPr/>
        </p:nvSpPr>
        <p:spPr>
          <a:xfrm rot="0">
            <a:off x="1743469" y="19482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Registro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939998"/>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1028700" y="2944186"/>
            <a:ext cx="7857870" cy="5991626"/>
          </a:xfrm>
          <a:custGeom>
            <a:avLst/>
            <a:gdLst/>
            <a:ahLst/>
            <a:cxnLst/>
            <a:rect r="r" b="b" t="t" l="l"/>
            <a:pathLst>
              <a:path h="5991626" w="7857870">
                <a:moveTo>
                  <a:pt x="0" y="0"/>
                </a:moveTo>
                <a:lnTo>
                  <a:pt x="7857870" y="0"/>
                </a:lnTo>
                <a:lnTo>
                  <a:pt x="7857870" y="5991625"/>
                </a:lnTo>
                <a:lnTo>
                  <a:pt x="0" y="5991625"/>
                </a:lnTo>
                <a:lnTo>
                  <a:pt x="0" y="0"/>
                </a:lnTo>
                <a:close/>
              </a:path>
            </a:pathLst>
          </a:custGeom>
          <a:blipFill>
            <a:blip r:embed="rId6"/>
            <a:stretch>
              <a:fillRect l="0" t="0" r="0" b="0"/>
            </a:stretch>
          </a:blipFill>
        </p:spPr>
      </p:sp>
      <p:sp>
        <p:nvSpPr>
          <p:cNvPr name="Freeform 8" id="8"/>
          <p:cNvSpPr/>
          <p:nvPr/>
        </p:nvSpPr>
        <p:spPr>
          <a:xfrm flipH="false" flipV="false" rot="0">
            <a:off x="9001785" y="2944186"/>
            <a:ext cx="8219968" cy="1664544"/>
          </a:xfrm>
          <a:custGeom>
            <a:avLst/>
            <a:gdLst/>
            <a:ahLst/>
            <a:cxnLst/>
            <a:rect r="r" b="b" t="t" l="l"/>
            <a:pathLst>
              <a:path h="1664544" w="8219968">
                <a:moveTo>
                  <a:pt x="0" y="0"/>
                </a:moveTo>
                <a:lnTo>
                  <a:pt x="8219968" y="0"/>
                </a:lnTo>
                <a:lnTo>
                  <a:pt x="8219968" y="1664543"/>
                </a:lnTo>
                <a:lnTo>
                  <a:pt x="0" y="1664543"/>
                </a:lnTo>
                <a:lnTo>
                  <a:pt x="0" y="0"/>
                </a:lnTo>
                <a:close/>
              </a:path>
            </a:pathLst>
          </a:custGeom>
          <a:blipFill>
            <a:blip r:embed="rId7"/>
            <a:stretch>
              <a:fillRect l="0" t="0" r="0" b="0"/>
            </a:stretch>
          </a:blipFill>
        </p:spPr>
      </p:sp>
      <p:sp>
        <p:nvSpPr>
          <p:cNvPr name="Freeform 9" id="9"/>
          <p:cNvSpPr/>
          <p:nvPr/>
        </p:nvSpPr>
        <p:spPr>
          <a:xfrm flipH="false" flipV="false" rot="0">
            <a:off x="8886570" y="4608729"/>
            <a:ext cx="8335183" cy="1396143"/>
          </a:xfrm>
          <a:custGeom>
            <a:avLst/>
            <a:gdLst/>
            <a:ahLst/>
            <a:cxnLst/>
            <a:rect r="r" b="b" t="t" l="l"/>
            <a:pathLst>
              <a:path h="1396143" w="8335183">
                <a:moveTo>
                  <a:pt x="0" y="0"/>
                </a:moveTo>
                <a:lnTo>
                  <a:pt x="8335183" y="0"/>
                </a:lnTo>
                <a:lnTo>
                  <a:pt x="8335183" y="1396143"/>
                </a:lnTo>
                <a:lnTo>
                  <a:pt x="0" y="1396143"/>
                </a:lnTo>
                <a:lnTo>
                  <a:pt x="0" y="0"/>
                </a:lnTo>
                <a:close/>
              </a:path>
            </a:pathLst>
          </a:custGeom>
          <a:blipFill>
            <a:blip r:embed="rId8"/>
            <a:stretch>
              <a:fillRect l="0" t="0" r="0" b="0"/>
            </a:stretch>
          </a:blipFill>
        </p:spPr>
      </p:sp>
      <p:sp>
        <p:nvSpPr>
          <p:cNvPr name="TextBox 10" id="10"/>
          <p:cNvSpPr txBox="true"/>
          <p:nvPr/>
        </p:nvSpPr>
        <p:spPr>
          <a:xfrm rot="0">
            <a:off x="1743469" y="19482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Flujo de depliegue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939998"/>
            <a:ext cx="5138677" cy="4419262"/>
          </a:xfrm>
          <a:custGeom>
            <a:avLst/>
            <a:gdLst/>
            <a:ahLst/>
            <a:cxnLst/>
            <a:rect r="r" b="b" t="t" l="l"/>
            <a:pathLst>
              <a:path h="4419262" w="5138677">
                <a:moveTo>
                  <a:pt x="0" y="0"/>
                </a:moveTo>
                <a:lnTo>
                  <a:pt x="5138677" y="0"/>
                </a:lnTo>
                <a:lnTo>
                  <a:pt x="5138677" y="4419263"/>
                </a:lnTo>
                <a:lnTo>
                  <a:pt x="0" y="4419263"/>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646051" y="2731915"/>
            <a:ext cx="7842553" cy="2411585"/>
          </a:xfrm>
          <a:custGeom>
            <a:avLst/>
            <a:gdLst/>
            <a:ahLst/>
            <a:cxnLst/>
            <a:rect r="r" b="b" t="t" l="l"/>
            <a:pathLst>
              <a:path h="2411585" w="7842553">
                <a:moveTo>
                  <a:pt x="0" y="0"/>
                </a:moveTo>
                <a:lnTo>
                  <a:pt x="7842553" y="0"/>
                </a:lnTo>
                <a:lnTo>
                  <a:pt x="7842553" y="2411585"/>
                </a:lnTo>
                <a:lnTo>
                  <a:pt x="0" y="2411585"/>
                </a:lnTo>
                <a:lnTo>
                  <a:pt x="0" y="0"/>
                </a:lnTo>
                <a:close/>
              </a:path>
            </a:pathLst>
          </a:custGeom>
          <a:blipFill>
            <a:blip r:embed="rId6"/>
            <a:stretch>
              <a:fillRect l="0" t="0" r="0" b="0"/>
            </a:stretch>
          </a:blipFill>
        </p:spPr>
      </p:sp>
      <p:sp>
        <p:nvSpPr>
          <p:cNvPr name="Freeform 8" id="8"/>
          <p:cNvSpPr/>
          <p:nvPr/>
        </p:nvSpPr>
        <p:spPr>
          <a:xfrm flipH="false" flipV="false" rot="0">
            <a:off x="2988201" y="5514975"/>
            <a:ext cx="8219968" cy="4500433"/>
          </a:xfrm>
          <a:custGeom>
            <a:avLst/>
            <a:gdLst/>
            <a:ahLst/>
            <a:cxnLst/>
            <a:rect r="r" b="b" t="t" l="l"/>
            <a:pathLst>
              <a:path h="4500433" w="8219968">
                <a:moveTo>
                  <a:pt x="0" y="0"/>
                </a:moveTo>
                <a:lnTo>
                  <a:pt x="8219968" y="0"/>
                </a:lnTo>
                <a:lnTo>
                  <a:pt x="8219968" y="4500433"/>
                </a:lnTo>
                <a:lnTo>
                  <a:pt x="0" y="4500433"/>
                </a:lnTo>
                <a:lnTo>
                  <a:pt x="0" y="0"/>
                </a:lnTo>
                <a:close/>
              </a:path>
            </a:pathLst>
          </a:custGeom>
          <a:blipFill>
            <a:blip r:embed="rId7"/>
            <a:stretch>
              <a:fillRect l="0" t="0" r="0" b="0"/>
            </a:stretch>
          </a:blipFill>
        </p:spPr>
      </p:sp>
      <p:sp>
        <p:nvSpPr>
          <p:cNvPr name="Freeform 9" id="9"/>
          <p:cNvSpPr/>
          <p:nvPr/>
        </p:nvSpPr>
        <p:spPr>
          <a:xfrm flipH="false" flipV="false" rot="0">
            <a:off x="11617253" y="2362704"/>
            <a:ext cx="6531029" cy="4596212"/>
          </a:xfrm>
          <a:custGeom>
            <a:avLst/>
            <a:gdLst/>
            <a:ahLst/>
            <a:cxnLst/>
            <a:rect r="r" b="b" t="t" l="l"/>
            <a:pathLst>
              <a:path h="4596212" w="6531029">
                <a:moveTo>
                  <a:pt x="0" y="0"/>
                </a:moveTo>
                <a:lnTo>
                  <a:pt x="6531029" y="0"/>
                </a:lnTo>
                <a:lnTo>
                  <a:pt x="6531029" y="4596212"/>
                </a:lnTo>
                <a:lnTo>
                  <a:pt x="0" y="4596212"/>
                </a:lnTo>
                <a:lnTo>
                  <a:pt x="0" y="0"/>
                </a:lnTo>
                <a:close/>
              </a:path>
            </a:pathLst>
          </a:custGeom>
          <a:blipFill>
            <a:blip r:embed="rId8"/>
            <a:stretch>
              <a:fillRect l="0" t="0" r="0" b="0"/>
            </a:stretch>
          </a:blipFill>
        </p:spPr>
      </p:sp>
      <p:sp>
        <p:nvSpPr>
          <p:cNvPr name="TextBox 10" id="10"/>
          <p:cNvSpPr txBox="true"/>
          <p:nvPr/>
        </p:nvSpPr>
        <p:spPr>
          <a:xfrm rot="0">
            <a:off x="1743469" y="19482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Flujo de depliegue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666637" y="4367588"/>
            <a:ext cx="10823745" cy="843110"/>
          </a:xfrm>
          <a:prstGeom prst="rect">
            <a:avLst/>
          </a:prstGeom>
        </p:spPr>
        <p:txBody>
          <a:bodyPr anchor="t" rtlCol="false" tIns="0" lIns="0" bIns="0" rIns="0">
            <a:spAutoFit/>
          </a:bodyPr>
          <a:lstStyle/>
          <a:p>
            <a:pPr algn="l" marL="564233" indent="-282116" lvl="1">
              <a:lnSpc>
                <a:spcPts val="3397"/>
              </a:lnSpc>
              <a:buFont typeface="Arial"/>
              <a:buChar char="•"/>
            </a:pPr>
            <a:r>
              <a:rPr lang="en-US" b="true" sz="2613">
                <a:solidFill>
                  <a:srgbClr val="04E1F9"/>
                </a:solidFill>
                <a:latin typeface="Montserrat Bold"/>
                <a:ea typeface="Montserrat Bold"/>
                <a:cs typeface="Montserrat Bold"/>
                <a:sym typeface="Montserrat Bold"/>
              </a:rPr>
              <a:t>CREATE, ALTER, DROP, TRUNCATE, ETC.</a:t>
            </a:r>
          </a:p>
          <a:p>
            <a:pPr algn="l">
              <a:lnSpc>
                <a:spcPts val="3397"/>
              </a:lnSpc>
            </a:pPr>
          </a:p>
        </p:txBody>
      </p:sp>
      <p:sp>
        <p:nvSpPr>
          <p:cNvPr name="Freeform 6" id="6"/>
          <p:cNvSpPr/>
          <p:nvPr/>
        </p:nvSpPr>
        <p:spPr>
          <a:xfrm flipH="false" flipV="false" rot="0">
            <a:off x="2050877" y="5059134"/>
            <a:ext cx="4836963" cy="846468"/>
          </a:xfrm>
          <a:custGeom>
            <a:avLst/>
            <a:gdLst/>
            <a:ahLst/>
            <a:cxnLst/>
            <a:rect r="r" b="b" t="t" l="l"/>
            <a:pathLst>
              <a:path h="846468" w="4836963">
                <a:moveTo>
                  <a:pt x="0" y="0"/>
                </a:moveTo>
                <a:lnTo>
                  <a:pt x="4836963" y="0"/>
                </a:lnTo>
                <a:lnTo>
                  <a:pt x="4836963" y="846469"/>
                </a:lnTo>
                <a:lnTo>
                  <a:pt x="0" y="846469"/>
                </a:lnTo>
                <a:lnTo>
                  <a:pt x="0" y="0"/>
                </a:lnTo>
                <a:close/>
              </a:path>
            </a:pathLst>
          </a:custGeom>
          <a:blipFill>
            <a:blip r:embed="rId5"/>
            <a:stretch>
              <a:fillRect l="0" t="0" r="0" b="0"/>
            </a:stretch>
          </a:blipFill>
        </p:spPr>
      </p:sp>
      <p:sp>
        <p:nvSpPr>
          <p:cNvPr name="Freeform 7" id="7"/>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6"/>
            <a:stretch>
              <a:fillRect l="0" t="0" r="0" b="0"/>
            </a:stretch>
          </a:blipFill>
        </p:spPr>
      </p:sp>
      <p:sp>
        <p:nvSpPr>
          <p:cNvPr name="Freeform 8" id="8"/>
          <p:cNvSpPr/>
          <p:nvPr/>
        </p:nvSpPr>
        <p:spPr>
          <a:xfrm flipH="false" flipV="false" rot="0">
            <a:off x="2062328" y="6133773"/>
            <a:ext cx="5577686" cy="1075815"/>
          </a:xfrm>
          <a:custGeom>
            <a:avLst/>
            <a:gdLst/>
            <a:ahLst/>
            <a:cxnLst/>
            <a:rect r="r" b="b" t="t" l="l"/>
            <a:pathLst>
              <a:path h="1075815" w="5577686">
                <a:moveTo>
                  <a:pt x="0" y="0"/>
                </a:moveTo>
                <a:lnTo>
                  <a:pt x="5577686" y="0"/>
                </a:lnTo>
                <a:lnTo>
                  <a:pt x="5577686" y="1075815"/>
                </a:lnTo>
                <a:lnTo>
                  <a:pt x="0" y="1075815"/>
                </a:lnTo>
                <a:lnTo>
                  <a:pt x="0" y="0"/>
                </a:lnTo>
                <a:close/>
              </a:path>
            </a:pathLst>
          </a:custGeom>
          <a:blipFill>
            <a:blip r:embed="rId7"/>
            <a:stretch>
              <a:fillRect l="0" t="0" r="0" b="0"/>
            </a:stretch>
          </a:blipFill>
        </p:spPr>
      </p:sp>
      <p:sp>
        <p:nvSpPr>
          <p:cNvPr name="Freeform 9" id="9"/>
          <p:cNvSpPr/>
          <p:nvPr/>
        </p:nvSpPr>
        <p:spPr>
          <a:xfrm flipH="false" flipV="false" rot="0">
            <a:off x="3092556" y="7386367"/>
            <a:ext cx="4547458" cy="1567203"/>
          </a:xfrm>
          <a:custGeom>
            <a:avLst/>
            <a:gdLst/>
            <a:ahLst/>
            <a:cxnLst/>
            <a:rect r="r" b="b" t="t" l="l"/>
            <a:pathLst>
              <a:path h="1567203" w="4547458">
                <a:moveTo>
                  <a:pt x="0" y="0"/>
                </a:moveTo>
                <a:lnTo>
                  <a:pt x="4547458" y="0"/>
                </a:lnTo>
                <a:lnTo>
                  <a:pt x="4547458" y="1567203"/>
                </a:lnTo>
                <a:lnTo>
                  <a:pt x="0" y="1567203"/>
                </a:lnTo>
                <a:lnTo>
                  <a:pt x="0" y="0"/>
                </a:lnTo>
                <a:close/>
              </a:path>
            </a:pathLst>
          </a:custGeom>
          <a:blipFill>
            <a:blip r:embed="rId8"/>
            <a:stretch>
              <a:fillRect l="0" t="0" r="0" b="0"/>
            </a:stretch>
          </a:blipFill>
        </p:spPr>
      </p:sp>
      <p:sp>
        <p:nvSpPr>
          <p:cNvPr name="Freeform 10" id="10"/>
          <p:cNvSpPr/>
          <p:nvPr/>
        </p:nvSpPr>
        <p:spPr>
          <a:xfrm flipH="false" flipV="false" rot="0">
            <a:off x="8717234" y="3294995"/>
            <a:ext cx="3860649" cy="5641811"/>
          </a:xfrm>
          <a:custGeom>
            <a:avLst/>
            <a:gdLst/>
            <a:ahLst/>
            <a:cxnLst/>
            <a:rect r="r" b="b" t="t" l="l"/>
            <a:pathLst>
              <a:path h="5641811" w="3860649">
                <a:moveTo>
                  <a:pt x="0" y="0"/>
                </a:moveTo>
                <a:lnTo>
                  <a:pt x="3860649" y="0"/>
                </a:lnTo>
                <a:lnTo>
                  <a:pt x="3860649" y="5641812"/>
                </a:lnTo>
                <a:lnTo>
                  <a:pt x="0" y="5641812"/>
                </a:lnTo>
                <a:lnTo>
                  <a:pt x="0" y="0"/>
                </a:lnTo>
                <a:close/>
              </a:path>
            </a:pathLst>
          </a:custGeom>
          <a:blipFill>
            <a:blip r:embed="rId9"/>
            <a:stretch>
              <a:fillRect l="0" t="0" r="0" b="0"/>
            </a:stretch>
          </a:blipFill>
        </p:spPr>
      </p:sp>
      <p:sp>
        <p:nvSpPr>
          <p:cNvPr name="Freeform 11" id="11"/>
          <p:cNvSpPr/>
          <p:nvPr/>
        </p:nvSpPr>
        <p:spPr>
          <a:xfrm flipH="false" flipV="false" rot="0">
            <a:off x="13049377" y="2830392"/>
            <a:ext cx="3935817" cy="3841289"/>
          </a:xfrm>
          <a:custGeom>
            <a:avLst/>
            <a:gdLst/>
            <a:ahLst/>
            <a:cxnLst/>
            <a:rect r="r" b="b" t="t" l="l"/>
            <a:pathLst>
              <a:path h="3841289" w="3935817">
                <a:moveTo>
                  <a:pt x="0" y="0"/>
                </a:moveTo>
                <a:lnTo>
                  <a:pt x="3935817" y="0"/>
                </a:lnTo>
                <a:lnTo>
                  <a:pt x="3935817" y="3841288"/>
                </a:lnTo>
                <a:lnTo>
                  <a:pt x="0" y="3841288"/>
                </a:lnTo>
                <a:lnTo>
                  <a:pt x="0" y="0"/>
                </a:lnTo>
                <a:close/>
              </a:path>
            </a:pathLst>
          </a:custGeom>
          <a:blipFill>
            <a:blip r:embed="rId10"/>
            <a:stretch>
              <a:fillRect l="0" t="0" r="0" b="0"/>
            </a:stretch>
          </a:blipFill>
        </p:spPr>
      </p:sp>
      <p:sp>
        <p:nvSpPr>
          <p:cNvPr name="Freeform 12" id="12"/>
          <p:cNvSpPr/>
          <p:nvPr/>
        </p:nvSpPr>
        <p:spPr>
          <a:xfrm flipH="false" flipV="false" rot="0">
            <a:off x="13049377" y="6766197"/>
            <a:ext cx="4501551" cy="2187373"/>
          </a:xfrm>
          <a:custGeom>
            <a:avLst/>
            <a:gdLst/>
            <a:ahLst/>
            <a:cxnLst/>
            <a:rect r="r" b="b" t="t" l="l"/>
            <a:pathLst>
              <a:path h="2187373" w="4501551">
                <a:moveTo>
                  <a:pt x="0" y="0"/>
                </a:moveTo>
                <a:lnTo>
                  <a:pt x="4501551" y="0"/>
                </a:lnTo>
                <a:lnTo>
                  <a:pt x="4501551" y="2187373"/>
                </a:lnTo>
                <a:lnTo>
                  <a:pt x="0" y="2187373"/>
                </a:lnTo>
                <a:lnTo>
                  <a:pt x="0" y="0"/>
                </a:lnTo>
                <a:close/>
              </a:path>
            </a:pathLst>
          </a:custGeom>
          <a:blipFill>
            <a:blip r:embed="rId11"/>
            <a:stretch>
              <a:fillRect l="0" t="0" r="0" b="0"/>
            </a:stretch>
          </a:blipFill>
        </p:spPr>
      </p:sp>
      <p:sp>
        <p:nvSpPr>
          <p:cNvPr name="TextBox 13" id="13"/>
          <p:cNvSpPr txBox="true"/>
          <p:nvPr/>
        </p:nvSpPr>
        <p:spPr>
          <a:xfrm rot="0">
            <a:off x="1028700" y="1593633"/>
            <a:ext cx="9104306" cy="2580718"/>
          </a:xfrm>
          <a:prstGeom prst="rect">
            <a:avLst/>
          </a:prstGeom>
        </p:spPr>
        <p:txBody>
          <a:bodyPr anchor="t" rtlCol="false" tIns="0" lIns="0" bIns="0" rIns="0">
            <a:spAutoFit/>
          </a:bodyPr>
          <a:lstStyle/>
          <a:p>
            <a:pPr algn="l">
              <a:lnSpc>
                <a:spcPts val="6899"/>
              </a:lnSpc>
            </a:pPr>
            <a:r>
              <a:rPr lang="en-US" sz="4928" b="true">
                <a:solidFill>
                  <a:srgbClr val="FFFFFF"/>
                </a:solidFill>
                <a:latin typeface="Montaser Arabic Ultra-Bold"/>
                <a:ea typeface="Montaser Arabic Ultra-Bold"/>
                <a:cs typeface="Montaser Arabic Ultra-Bold"/>
                <a:sym typeface="Montaser Arabic Ultra-Bold"/>
              </a:rPr>
              <a:t>1. IMPLEMENTACIÓN DE</a:t>
            </a:r>
          </a:p>
          <a:p>
            <a:pPr algn="l">
              <a:lnSpc>
                <a:spcPts val="6899"/>
              </a:lnSpc>
            </a:pPr>
            <a:r>
              <a:rPr lang="en-US" sz="4928" b="true">
                <a:solidFill>
                  <a:srgbClr val="FFFFFF"/>
                </a:solidFill>
                <a:latin typeface="Montaser Arabic Ultra-Bold"/>
                <a:ea typeface="Montaser Arabic Ultra-Bold"/>
                <a:cs typeface="Montaser Arabic Ultra-Bold"/>
                <a:sym typeface="Montaser Arabic Ultra-Bold"/>
              </a:rPr>
              <a:t>BASE DE DATOS</a:t>
            </a:r>
          </a:p>
          <a:p>
            <a:pPr algn="l">
              <a:lnSpc>
                <a:spcPts val="6899"/>
              </a:lnSpc>
              <a:spcBef>
                <a:spcPct val="0"/>
              </a:spcBef>
            </a:pPr>
          </a:p>
        </p:txBody>
      </p:sp>
      <p:sp>
        <p:nvSpPr>
          <p:cNvPr name="TextBox 14" id="14"/>
          <p:cNvSpPr txBox="true"/>
          <p:nvPr/>
        </p:nvSpPr>
        <p:spPr>
          <a:xfrm rot="0">
            <a:off x="1028700" y="3669099"/>
            <a:ext cx="4742324" cy="317500"/>
          </a:xfrm>
          <a:prstGeom prst="rect">
            <a:avLst/>
          </a:prstGeom>
        </p:spPr>
        <p:txBody>
          <a:bodyPr anchor="t" rtlCol="false" tIns="0" lIns="0" bIns="0" rIns="0">
            <a:spAutoFit/>
          </a:bodyPr>
          <a:lstStyle/>
          <a:p>
            <a:pPr algn="just">
              <a:lnSpc>
                <a:spcPts val="2600"/>
              </a:lnSpc>
            </a:pPr>
            <a:r>
              <a:rPr lang="en-US" sz="2000">
                <a:solidFill>
                  <a:srgbClr val="FFFFFF"/>
                </a:solidFill>
                <a:latin typeface="Montserrat"/>
                <a:ea typeface="Montserrat"/>
                <a:cs typeface="Montserrat"/>
                <a:sym typeface="Montserrat"/>
              </a:rPr>
              <a:t>Formulación de instrucciones DDL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grpSp>
        <p:nvGrpSpPr>
          <p:cNvPr name="Group 3" id="3"/>
          <p:cNvGrpSpPr/>
          <p:nvPr/>
        </p:nvGrpSpPr>
        <p:grpSpPr>
          <a:xfrm rot="0">
            <a:off x="2050877" y="5484185"/>
            <a:ext cx="7298788" cy="586480"/>
            <a:chOff x="0" y="0"/>
            <a:chExt cx="5057675" cy="406400"/>
          </a:xfrm>
        </p:grpSpPr>
        <p:sp>
          <p:nvSpPr>
            <p:cNvPr name="Freeform 4" id="4"/>
            <p:cNvSpPr/>
            <p:nvPr/>
          </p:nvSpPr>
          <p:spPr>
            <a:xfrm flipH="false" flipV="false" rot="0">
              <a:off x="0" y="0"/>
              <a:ext cx="5057675" cy="406400"/>
            </a:xfrm>
            <a:custGeom>
              <a:avLst/>
              <a:gdLst/>
              <a:ahLst/>
              <a:cxnLst/>
              <a:rect r="r" b="b" t="t" l="l"/>
              <a:pathLst>
                <a:path h="406400" w="5057675">
                  <a:moveTo>
                    <a:pt x="4854475" y="0"/>
                  </a:moveTo>
                  <a:cubicBezTo>
                    <a:pt x="4966699" y="0"/>
                    <a:pt x="5057675" y="90976"/>
                    <a:pt x="5057675" y="203200"/>
                  </a:cubicBezTo>
                  <a:cubicBezTo>
                    <a:pt x="5057675" y="315424"/>
                    <a:pt x="4966699" y="406400"/>
                    <a:pt x="485447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5" id="5"/>
            <p:cNvSpPr txBox="true"/>
            <p:nvPr/>
          </p:nvSpPr>
          <p:spPr>
            <a:xfrm>
              <a:off x="0" y="-38100"/>
              <a:ext cx="5057675"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050877" y="6219928"/>
            <a:ext cx="7298788" cy="586480"/>
            <a:chOff x="0" y="0"/>
            <a:chExt cx="5057675" cy="406400"/>
          </a:xfrm>
        </p:grpSpPr>
        <p:sp>
          <p:nvSpPr>
            <p:cNvPr name="Freeform 7" id="7"/>
            <p:cNvSpPr/>
            <p:nvPr/>
          </p:nvSpPr>
          <p:spPr>
            <a:xfrm flipH="false" flipV="false" rot="0">
              <a:off x="0" y="0"/>
              <a:ext cx="5057675" cy="406400"/>
            </a:xfrm>
            <a:custGeom>
              <a:avLst/>
              <a:gdLst/>
              <a:ahLst/>
              <a:cxnLst/>
              <a:rect r="r" b="b" t="t" l="l"/>
              <a:pathLst>
                <a:path h="406400" w="5057675">
                  <a:moveTo>
                    <a:pt x="4854475" y="0"/>
                  </a:moveTo>
                  <a:cubicBezTo>
                    <a:pt x="4966699" y="0"/>
                    <a:pt x="5057675" y="90976"/>
                    <a:pt x="5057675" y="203200"/>
                  </a:cubicBezTo>
                  <a:cubicBezTo>
                    <a:pt x="5057675" y="315424"/>
                    <a:pt x="4966699" y="406400"/>
                    <a:pt x="485447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8" id="8"/>
            <p:cNvSpPr txBox="true"/>
            <p:nvPr/>
          </p:nvSpPr>
          <p:spPr>
            <a:xfrm>
              <a:off x="0" y="-38100"/>
              <a:ext cx="5057675"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2050877" y="6955670"/>
            <a:ext cx="7298788" cy="586480"/>
            <a:chOff x="0" y="0"/>
            <a:chExt cx="5057675" cy="406400"/>
          </a:xfrm>
        </p:grpSpPr>
        <p:sp>
          <p:nvSpPr>
            <p:cNvPr name="Freeform 10" id="10"/>
            <p:cNvSpPr/>
            <p:nvPr/>
          </p:nvSpPr>
          <p:spPr>
            <a:xfrm flipH="false" flipV="false" rot="0">
              <a:off x="0" y="0"/>
              <a:ext cx="5057675" cy="406400"/>
            </a:xfrm>
            <a:custGeom>
              <a:avLst/>
              <a:gdLst/>
              <a:ahLst/>
              <a:cxnLst/>
              <a:rect r="r" b="b" t="t" l="l"/>
              <a:pathLst>
                <a:path h="406400" w="5057675">
                  <a:moveTo>
                    <a:pt x="4854475" y="0"/>
                  </a:moveTo>
                  <a:cubicBezTo>
                    <a:pt x="4966699" y="0"/>
                    <a:pt x="5057675" y="90976"/>
                    <a:pt x="5057675" y="203200"/>
                  </a:cubicBezTo>
                  <a:cubicBezTo>
                    <a:pt x="5057675" y="315424"/>
                    <a:pt x="4966699" y="406400"/>
                    <a:pt x="485447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11" id="11"/>
            <p:cNvSpPr txBox="true"/>
            <p:nvPr/>
          </p:nvSpPr>
          <p:spPr>
            <a:xfrm>
              <a:off x="0" y="-38100"/>
              <a:ext cx="5057675"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430575" y="5638648"/>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430575" y="7118917"/>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430575" y="6355875"/>
            <a:ext cx="314587" cy="314587"/>
          </a:xfrm>
          <a:custGeom>
            <a:avLst/>
            <a:gdLst/>
            <a:ahLst/>
            <a:cxnLst/>
            <a:rect r="r" b="b" t="t" l="l"/>
            <a:pathLst>
              <a:path h="314587" w="314587">
                <a:moveTo>
                  <a:pt x="0" y="0"/>
                </a:moveTo>
                <a:lnTo>
                  <a:pt x="314587" y="0"/>
                </a:lnTo>
                <a:lnTo>
                  <a:pt x="314587" y="314587"/>
                </a:lnTo>
                <a:lnTo>
                  <a:pt x="0" y="3145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5">
              <a:alphaModFix amt="90000"/>
              <a:extLst>
                <a:ext uri="{96DAC541-7B7A-43D3-8B79-37D633B846F1}">
                  <asvg:svgBlip xmlns:asvg="http://schemas.microsoft.com/office/drawing/2016/SVG/main" r:embed="rId6"/>
                </a:ext>
              </a:extLst>
            </a:blip>
            <a:stretch>
              <a:fillRect l="0" t="0" r="0" b="0"/>
            </a:stretch>
          </a:blipFill>
        </p:spPr>
      </p:sp>
      <p:grpSp>
        <p:nvGrpSpPr>
          <p:cNvPr name="Group 16" id="16"/>
          <p:cNvGrpSpPr/>
          <p:nvPr/>
        </p:nvGrpSpPr>
        <p:grpSpPr>
          <a:xfrm rot="0">
            <a:off x="12528343" y="1830342"/>
            <a:ext cx="2908683" cy="2007033"/>
            <a:chOff x="0" y="0"/>
            <a:chExt cx="1107124" cy="763931"/>
          </a:xfrm>
        </p:grpSpPr>
        <p:sp>
          <p:nvSpPr>
            <p:cNvPr name="Freeform 17" id="17"/>
            <p:cNvSpPr/>
            <p:nvPr/>
          </p:nvSpPr>
          <p:spPr>
            <a:xfrm flipH="false" flipV="false" rot="0">
              <a:off x="0" y="0"/>
              <a:ext cx="1107124" cy="763931"/>
            </a:xfrm>
            <a:custGeom>
              <a:avLst/>
              <a:gdLst/>
              <a:ahLst/>
              <a:cxnLst/>
              <a:rect r="r" b="b" t="t" l="l"/>
              <a:pathLst>
                <a:path h="763931" w="1107124">
                  <a:moveTo>
                    <a:pt x="149053" y="0"/>
                  </a:moveTo>
                  <a:lnTo>
                    <a:pt x="958071" y="0"/>
                  </a:lnTo>
                  <a:cubicBezTo>
                    <a:pt x="1040390" y="0"/>
                    <a:pt x="1107124" y="66733"/>
                    <a:pt x="1107124" y="149053"/>
                  </a:cubicBezTo>
                  <a:lnTo>
                    <a:pt x="1107124" y="614878"/>
                  </a:lnTo>
                  <a:cubicBezTo>
                    <a:pt x="1107124" y="697198"/>
                    <a:pt x="1040390" y="763931"/>
                    <a:pt x="958071" y="763931"/>
                  </a:cubicBezTo>
                  <a:lnTo>
                    <a:pt x="149053" y="763931"/>
                  </a:lnTo>
                  <a:cubicBezTo>
                    <a:pt x="66733" y="763931"/>
                    <a:pt x="0" y="697198"/>
                    <a:pt x="0" y="614878"/>
                  </a:cubicBezTo>
                  <a:lnTo>
                    <a:pt x="0" y="149053"/>
                  </a:lnTo>
                  <a:cubicBezTo>
                    <a:pt x="0" y="66733"/>
                    <a:pt x="66733" y="0"/>
                    <a:pt x="149053" y="0"/>
                  </a:cubicBezTo>
                  <a:close/>
                </a:path>
              </a:pathLst>
            </a:custGeom>
            <a:blipFill>
              <a:blip r:embed="rId7"/>
              <a:stretch>
                <a:fillRect l="0" t="-542" r="0" b="-542"/>
              </a:stretch>
            </a:blipFill>
          </p:spPr>
        </p:sp>
      </p:grpSp>
      <p:sp>
        <p:nvSpPr>
          <p:cNvPr name="Freeform 18" id="18"/>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5">
              <a:alphaModFix amt="90000"/>
              <a:extLst>
                <a:ext uri="{96DAC541-7B7A-43D3-8B79-37D633B846F1}">
                  <asvg:svgBlip xmlns:asvg="http://schemas.microsoft.com/office/drawing/2016/SVG/main" r:embed="rId6"/>
                </a:ext>
              </a:extLst>
            </a:blip>
            <a:stretch>
              <a:fillRect l="0" t="0" r="0" b="0"/>
            </a:stretch>
          </a:blipFill>
        </p:spPr>
      </p:sp>
      <p:sp>
        <p:nvSpPr>
          <p:cNvPr name="TextBox 19" id="19"/>
          <p:cNvSpPr txBox="true"/>
          <p:nvPr/>
        </p:nvSpPr>
        <p:spPr>
          <a:xfrm rot="0">
            <a:off x="2101661" y="4755375"/>
            <a:ext cx="4938531" cy="414485"/>
          </a:xfrm>
          <a:prstGeom prst="rect">
            <a:avLst/>
          </a:prstGeom>
        </p:spPr>
        <p:txBody>
          <a:bodyPr anchor="t" rtlCol="false" tIns="0" lIns="0" bIns="0" rIns="0">
            <a:spAutoFit/>
          </a:bodyPr>
          <a:lstStyle/>
          <a:p>
            <a:pPr algn="l">
              <a:lnSpc>
                <a:spcPts val="3397"/>
              </a:lnSpc>
            </a:pPr>
            <a:r>
              <a:rPr lang="en-US" sz="2613" b="true">
                <a:solidFill>
                  <a:srgbClr val="04E1F9"/>
                </a:solidFill>
                <a:latin typeface="Montserrat Bold"/>
                <a:ea typeface="Montserrat Bold"/>
                <a:cs typeface="Montserrat Bold"/>
                <a:sym typeface="Montserrat Bold"/>
              </a:rPr>
              <a:t>Creativity Unleashed</a:t>
            </a:r>
          </a:p>
        </p:txBody>
      </p:sp>
      <p:sp>
        <p:nvSpPr>
          <p:cNvPr name="Freeform 20" id="20"/>
          <p:cNvSpPr/>
          <p:nvPr/>
        </p:nvSpPr>
        <p:spPr>
          <a:xfrm flipH="false" flipV="false" rot="0">
            <a:off x="4570927" y="7118917"/>
            <a:ext cx="4836963" cy="846468"/>
          </a:xfrm>
          <a:custGeom>
            <a:avLst/>
            <a:gdLst/>
            <a:ahLst/>
            <a:cxnLst/>
            <a:rect r="r" b="b" t="t" l="l"/>
            <a:pathLst>
              <a:path h="846468" w="4836963">
                <a:moveTo>
                  <a:pt x="0" y="0"/>
                </a:moveTo>
                <a:lnTo>
                  <a:pt x="4836962" y="0"/>
                </a:lnTo>
                <a:lnTo>
                  <a:pt x="4836962" y="846468"/>
                </a:lnTo>
                <a:lnTo>
                  <a:pt x="0" y="846468"/>
                </a:lnTo>
                <a:lnTo>
                  <a:pt x="0" y="0"/>
                </a:lnTo>
                <a:close/>
              </a:path>
            </a:pathLst>
          </a:custGeom>
          <a:blipFill>
            <a:blip r:embed="rId8"/>
            <a:stretch>
              <a:fillRect l="0" t="0" r="0" b="0"/>
            </a:stretch>
          </a:blipFill>
        </p:spPr>
      </p:sp>
      <p:sp>
        <p:nvSpPr>
          <p:cNvPr name="Freeform 21" id="21"/>
          <p:cNvSpPr/>
          <p:nvPr/>
        </p:nvSpPr>
        <p:spPr>
          <a:xfrm flipH="false" flipV="false" rot="0">
            <a:off x="2050877" y="5059134"/>
            <a:ext cx="4836963" cy="846468"/>
          </a:xfrm>
          <a:custGeom>
            <a:avLst/>
            <a:gdLst/>
            <a:ahLst/>
            <a:cxnLst/>
            <a:rect r="r" b="b" t="t" l="l"/>
            <a:pathLst>
              <a:path h="846468" w="4836963">
                <a:moveTo>
                  <a:pt x="0" y="0"/>
                </a:moveTo>
                <a:lnTo>
                  <a:pt x="4836963" y="0"/>
                </a:lnTo>
                <a:lnTo>
                  <a:pt x="4836963" y="846469"/>
                </a:lnTo>
                <a:lnTo>
                  <a:pt x="0" y="846469"/>
                </a:lnTo>
                <a:lnTo>
                  <a:pt x="0" y="0"/>
                </a:lnTo>
                <a:close/>
              </a:path>
            </a:pathLst>
          </a:custGeom>
          <a:blipFill>
            <a:blip r:embed="rId8"/>
            <a:stretch>
              <a:fillRect l="0" t="0" r="0" b="0"/>
            </a:stretch>
          </a:blipFill>
        </p:spPr>
      </p:sp>
      <p:sp>
        <p:nvSpPr>
          <p:cNvPr name="Freeform 22" id="22"/>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9"/>
            <a:stretch>
              <a:fillRect l="0" t="0" r="0" b="0"/>
            </a:stretch>
          </a:blipFill>
        </p:spPr>
      </p:sp>
      <p:sp>
        <p:nvSpPr>
          <p:cNvPr name="Freeform 23" id="23"/>
          <p:cNvSpPr/>
          <p:nvPr/>
        </p:nvSpPr>
        <p:spPr>
          <a:xfrm flipH="false" flipV="false" rot="0">
            <a:off x="1028700" y="4174350"/>
            <a:ext cx="16070452" cy="5765275"/>
          </a:xfrm>
          <a:custGeom>
            <a:avLst/>
            <a:gdLst/>
            <a:ahLst/>
            <a:cxnLst/>
            <a:rect r="r" b="b" t="t" l="l"/>
            <a:pathLst>
              <a:path h="5765275" w="16070452">
                <a:moveTo>
                  <a:pt x="0" y="0"/>
                </a:moveTo>
                <a:lnTo>
                  <a:pt x="16070452" y="0"/>
                </a:lnTo>
                <a:lnTo>
                  <a:pt x="16070452" y="5765275"/>
                </a:lnTo>
                <a:lnTo>
                  <a:pt x="0" y="5765275"/>
                </a:lnTo>
                <a:lnTo>
                  <a:pt x="0" y="0"/>
                </a:lnTo>
                <a:close/>
              </a:path>
            </a:pathLst>
          </a:custGeom>
          <a:blipFill>
            <a:blip r:embed="rId10"/>
            <a:stretch>
              <a:fillRect l="0" t="0" r="0" b="0"/>
            </a:stretch>
          </a:blipFill>
        </p:spPr>
      </p:sp>
      <p:sp>
        <p:nvSpPr>
          <p:cNvPr name="TextBox 24" id="24"/>
          <p:cNvSpPr txBox="true"/>
          <p:nvPr/>
        </p:nvSpPr>
        <p:spPr>
          <a:xfrm rot="0">
            <a:off x="1028700" y="1593633"/>
            <a:ext cx="9104306" cy="2580718"/>
          </a:xfrm>
          <a:prstGeom prst="rect">
            <a:avLst/>
          </a:prstGeom>
        </p:spPr>
        <p:txBody>
          <a:bodyPr anchor="t" rtlCol="false" tIns="0" lIns="0" bIns="0" rIns="0">
            <a:spAutoFit/>
          </a:bodyPr>
          <a:lstStyle/>
          <a:p>
            <a:pPr algn="l">
              <a:lnSpc>
                <a:spcPts val="6899"/>
              </a:lnSpc>
            </a:pPr>
            <a:r>
              <a:rPr lang="en-US" sz="4928" b="true">
                <a:solidFill>
                  <a:srgbClr val="FFFFFF"/>
                </a:solidFill>
                <a:latin typeface="Montaser Arabic Ultra-Bold"/>
                <a:ea typeface="Montaser Arabic Ultra-Bold"/>
                <a:cs typeface="Montaser Arabic Ultra-Bold"/>
                <a:sym typeface="Montaser Arabic Ultra-Bold"/>
              </a:rPr>
              <a:t>1. IMPLEMENTACIÓN DE</a:t>
            </a:r>
          </a:p>
          <a:p>
            <a:pPr algn="l">
              <a:lnSpc>
                <a:spcPts val="6899"/>
              </a:lnSpc>
            </a:pPr>
            <a:r>
              <a:rPr lang="en-US" sz="4928" b="true">
                <a:solidFill>
                  <a:srgbClr val="FFFFFF"/>
                </a:solidFill>
                <a:latin typeface="Montaser Arabic Ultra-Bold"/>
                <a:ea typeface="Montaser Arabic Ultra-Bold"/>
                <a:cs typeface="Montaser Arabic Ultra-Bold"/>
                <a:sym typeface="Montaser Arabic Ultra-Bold"/>
              </a:rPr>
              <a:t>BASE DE DATOS</a:t>
            </a:r>
          </a:p>
          <a:p>
            <a:pPr algn="l">
              <a:lnSpc>
                <a:spcPts val="6899"/>
              </a:lnSpc>
              <a:spcBef>
                <a:spcPct val="0"/>
              </a:spcBef>
            </a:pPr>
          </a:p>
        </p:txBody>
      </p:sp>
      <p:sp>
        <p:nvSpPr>
          <p:cNvPr name="TextBox 25" id="25"/>
          <p:cNvSpPr txBox="true"/>
          <p:nvPr/>
        </p:nvSpPr>
        <p:spPr>
          <a:xfrm rot="0">
            <a:off x="1028700" y="3669099"/>
            <a:ext cx="4742324" cy="317500"/>
          </a:xfrm>
          <a:prstGeom prst="rect">
            <a:avLst/>
          </a:prstGeom>
        </p:spPr>
        <p:txBody>
          <a:bodyPr anchor="t" rtlCol="false" tIns="0" lIns="0" bIns="0" rIns="0">
            <a:spAutoFit/>
          </a:bodyPr>
          <a:lstStyle/>
          <a:p>
            <a:pPr algn="just">
              <a:lnSpc>
                <a:spcPts val="2600"/>
              </a:lnSpc>
            </a:pPr>
            <a:r>
              <a:rPr lang="en-US" sz="2000">
                <a:solidFill>
                  <a:srgbClr val="FFFFFF"/>
                </a:solidFill>
                <a:latin typeface="Montserrat"/>
                <a:ea typeface="Montserrat"/>
                <a:cs typeface="Montserrat"/>
                <a:sym typeface="Montserrat"/>
              </a:rPr>
              <a:t>DER (Diagrama Entidad Relación)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4824688" y="3674354"/>
            <a:ext cx="8638624" cy="5715870"/>
          </a:xfrm>
          <a:custGeom>
            <a:avLst/>
            <a:gdLst/>
            <a:ahLst/>
            <a:cxnLst/>
            <a:rect r="r" b="b" t="t" l="l"/>
            <a:pathLst>
              <a:path h="5715870" w="8638624">
                <a:moveTo>
                  <a:pt x="0" y="0"/>
                </a:moveTo>
                <a:lnTo>
                  <a:pt x="8638624" y="0"/>
                </a:lnTo>
                <a:lnTo>
                  <a:pt x="8638624" y="5715870"/>
                </a:lnTo>
                <a:lnTo>
                  <a:pt x="0" y="5715870"/>
                </a:lnTo>
                <a:lnTo>
                  <a:pt x="0" y="0"/>
                </a:lnTo>
                <a:close/>
              </a:path>
            </a:pathLst>
          </a:custGeom>
          <a:blipFill>
            <a:blip r:embed="rId6"/>
            <a:stretch>
              <a:fillRect l="0" t="0" r="0" b="0"/>
            </a:stretch>
          </a:blipFill>
        </p:spPr>
      </p:sp>
      <p:sp>
        <p:nvSpPr>
          <p:cNvPr name="TextBox 7" id="7"/>
          <p:cNvSpPr txBox="true"/>
          <p:nvPr/>
        </p:nvSpPr>
        <p:spPr>
          <a:xfrm rot="0">
            <a:off x="2824249" y="1979621"/>
            <a:ext cx="12142086" cy="1694733"/>
          </a:xfrm>
          <a:prstGeom prst="rect">
            <a:avLst/>
          </a:prstGeom>
        </p:spPr>
        <p:txBody>
          <a:bodyPr anchor="t" rtlCol="false" tIns="0" lIns="0" bIns="0" rIns="0">
            <a:spAutoFit/>
          </a:bodyPr>
          <a:lstStyle/>
          <a:p>
            <a:pPr algn="ctr">
              <a:lnSpc>
                <a:spcPts val="6864"/>
              </a:lnSpc>
            </a:pPr>
            <a:r>
              <a:rPr lang="en-US" sz="4903" b="true">
                <a:solidFill>
                  <a:srgbClr val="FFFFFF"/>
                </a:solidFill>
                <a:latin typeface="Montaser Arabic Ultra-Bold"/>
                <a:ea typeface="Montaser Arabic Ultra-Bold"/>
                <a:cs typeface="Montaser Arabic Ultra-Bold"/>
                <a:sym typeface="Montaser Arabic Ultra-Bold"/>
              </a:rPr>
              <a:t>2. IMPLEMENTACIÓN DE LA API REST</a:t>
            </a:r>
          </a:p>
          <a:p>
            <a:pPr algn="ctr">
              <a:lnSpc>
                <a:spcPts val="6864"/>
              </a:lnSpc>
              <a:spcBef>
                <a:spcPct val="0"/>
              </a:spcBef>
            </a:pPr>
          </a:p>
        </p:txBody>
      </p:sp>
      <p:sp>
        <p:nvSpPr>
          <p:cNvPr name="TextBox 8" id="8"/>
          <p:cNvSpPr txBox="true"/>
          <p:nvPr/>
        </p:nvSpPr>
        <p:spPr>
          <a:xfrm rot="0">
            <a:off x="2546734" y="2947727"/>
            <a:ext cx="12419601"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Implementación de los endpoint del proyecto web</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4374546" y="3022433"/>
            <a:ext cx="9538907" cy="5699497"/>
          </a:xfrm>
          <a:custGeom>
            <a:avLst/>
            <a:gdLst/>
            <a:ahLst/>
            <a:cxnLst/>
            <a:rect r="r" b="b" t="t" l="l"/>
            <a:pathLst>
              <a:path h="5699497" w="9538907">
                <a:moveTo>
                  <a:pt x="0" y="0"/>
                </a:moveTo>
                <a:lnTo>
                  <a:pt x="9538908" y="0"/>
                </a:lnTo>
                <a:lnTo>
                  <a:pt x="9538908" y="5699497"/>
                </a:lnTo>
                <a:lnTo>
                  <a:pt x="0" y="5699497"/>
                </a:lnTo>
                <a:lnTo>
                  <a:pt x="0" y="0"/>
                </a:lnTo>
                <a:close/>
              </a:path>
            </a:pathLst>
          </a:custGeom>
          <a:blipFill>
            <a:blip r:embed="rId6"/>
            <a:stretch>
              <a:fillRect l="0" t="0" r="0" b="0"/>
            </a:stretch>
          </a:blipFill>
        </p:spPr>
      </p:sp>
      <p:sp>
        <p:nvSpPr>
          <p:cNvPr name="TextBox 7" id="7"/>
          <p:cNvSpPr txBox="true"/>
          <p:nvPr/>
        </p:nvSpPr>
        <p:spPr>
          <a:xfrm rot="0">
            <a:off x="5290798" y="1729577"/>
            <a:ext cx="7706404" cy="471722"/>
          </a:xfrm>
          <a:prstGeom prst="rect">
            <a:avLst/>
          </a:prstGeom>
        </p:spPr>
        <p:txBody>
          <a:bodyPr anchor="t" rtlCol="false" tIns="0" lIns="0" bIns="0" rIns="0">
            <a:spAutoFit/>
          </a:bodyPr>
          <a:lstStyle/>
          <a:p>
            <a:pPr algn="ctr">
              <a:lnSpc>
                <a:spcPts val="3924"/>
              </a:lnSpc>
              <a:spcBef>
                <a:spcPct val="0"/>
              </a:spcBef>
            </a:pPr>
            <a:r>
              <a:rPr lang="en-US" b="true" sz="2803">
                <a:solidFill>
                  <a:srgbClr val="04E1F9"/>
                </a:solidFill>
                <a:latin typeface="Montaser Arabic Bold"/>
                <a:ea typeface="Montaser Arabic Bold"/>
                <a:cs typeface="Montaser Arabic Bold"/>
                <a:sym typeface="Montaser Arabic Bold"/>
              </a:rPr>
              <a:t>AuthController.java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4650889" y="2937050"/>
            <a:ext cx="8986221" cy="5784880"/>
          </a:xfrm>
          <a:custGeom>
            <a:avLst/>
            <a:gdLst/>
            <a:ahLst/>
            <a:cxnLst/>
            <a:rect r="r" b="b" t="t" l="l"/>
            <a:pathLst>
              <a:path h="5784880" w="8986221">
                <a:moveTo>
                  <a:pt x="0" y="0"/>
                </a:moveTo>
                <a:lnTo>
                  <a:pt x="8986222" y="0"/>
                </a:lnTo>
                <a:lnTo>
                  <a:pt x="8986222" y="5784880"/>
                </a:lnTo>
                <a:lnTo>
                  <a:pt x="0" y="5784880"/>
                </a:lnTo>
                <a:lnTo>
                  <a:pt x="0" y="0"/>
                </a:lnTo>
                <a:close/>
              </a:path>
            </a:pathLst>
          </a:custGeom>
          <a:blipFill>
            <a:blip r:embed="rId6"/>
            <a:stretch>
              <a:fillRect l="0" t="0" r="0" b="0"/>
            </a:stretch>
          </a:blipFill>
        </p:spPr>
      </p:sp>
      <p:sp>
        <p:nvSpPr>
          <p:cNvPr name="TextBox 7" id="7"/>
          <p:cNvSpPr txBox="true"/>
          <p:nvPr/>
        </p:nvSpPr>
        <p:spPr>
          <a:xfrm rot="0">
            <a:off x="5290798" y="1729577"/>
            <a:ext cx="7706404" cy="471722"/>
          </a:xfrm>
          <a:prstGeom prst="rect">
            <a:avLst/>
          </a:prstGeom>
        </p:spPr>
        <p:txBody>
          <a:bodyPr anchor="t" rtlCol="false" tIns="0" lIns="0" bIns="0" rIns="0">
            <a:spAutoFit/>
          </a:bodyPr>
          <a:lstStyle/>
          <a:p>
            <a:pPr algn="ctr">
              <a:lnSpc>
                <a:spcPts val="3924"/>
              </a:lnSpc>
              <a:spcBef>
                <a:spcPct val="0"/>
              </a:spcBef>
            </a:pPr>
            <a:r>
              <a:rPr lang="en-US" b="true" sz="2803">
                <a:solidFill>
                  <a:srgbClr val="04E1F9"/>
                </a:solidFill>
                <a:latin typeface="Montaser Arabic Bold"/>
                <a:ea typeface="Montaser Arabic Bold"/>
                <a:cs typeface="Montaser Arabic Bold"/>
                <a:sym typeface="Montaser Arabic Bold"/>
              </a:rPr>
              <a:t>ClienteController.java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1028700" y="2600450"/>
            <a:ext cx="7265852" cy="6121480"/>
          </a:xfrm>
          <a:custGeom>
            <a:avLst/>
            <a:gdLst/>
            <a:ahLst/>
            <a:cxnLst/>
            <a:rect r="r" b="b" t="t" l="l"/>
            <a:pathLst>
              <a:path h="6121480" w="7265852">
                <a:moveTo>
                  <a:pt x="0" y="0"/>
                </a:moveTo>
                <a:lnTo>
                  <a:pt x="7265852" y="0"/>
                </a:lnTo>
                <a:lnTo>
                  <a:pt x="7265852" y="6121480"/>
                </a:lnTo>
                <a:lnTo>
                  <a:pt x="0" y="6121480"/>
                </a:lnTo>
                <a:lnTo>
                  <a:pt x="0" y="0"/>
                </a:lnTo>
                <a:close/>
              </a:path>
            </a:pathLst>
          </a:custGeom>
          <a:blipFill>
            <a:blip r:embed="rId6"/>
            <a:stretch>
              <a:fillRect l="0" t="0" r="0" b="0"/>
            </a:stretch>
          </a:blipFill>
        </p:spPr>
      </p:sp>
      <p:sp>
        <p:nvSpPr>
          <p:cNvPr name="Freeform 7" id="7"/>
          <p:cNvSpPr/>
          <p:nvPr/>
        </p:nvSpPr>
        <p:spPr>
          <a:xfrm flipH="false" flipV="false" rot="0">
            <a:off x="8620762" y="3342758"/>
            <a:ext cx="8488537" cy="4636863"/>
          </a:xfrm>
          <a:custGeom>
            <a:avLst/>
            <a:gdLst/>
            <a:ahLst/>
            <a:cxnLst/>
            <a:rect r="r" b="b" t="t" l="l"/>
            <a:pathLst>
              <a:path h="4636863" w="8488537">
                <a:moveTo>
                  <a:pt x="0" y="0"/>
                </a:moveTo>
                <a:lnTo>
                  <a:pt x="8488537" y="0"/>
                </a:lnTo>
                <a:lnTo>
                  <a:pt x="8488537" y="4636863"/>
                </a:lnTo>
                <a:lnTo>
                  <a:pt x="0" y="4636863"/>
                </a:lnTo>
                <a:lnTo>
                  <a:pt x="0" y="0"/>
                </a:lnTo>
                <a:close/>
              </a:path>
            </a:pathLst>
          </a:custGeom>
          <a:blipFill>
            <a:blip r:embed="rId7"/>
            <a:stretch>
              <a:fillRect l="0" t="0" r="0" b="0"/>
            </a:stretch>
          </a:blipFill>
        </p:spPr>
      </p:sp>
      <p:sp>
        <p:nvSpPr>
          <p:cNvPr name="TextBox 8" id="8"/>
          <p:cNvSpPr txBox="true"/>
          <p:nvPr/>
        </p:nvSpPr>
        <p:spPr>
          <a:xfrm rot="0">
            <a:off x="5290798" y="1729577"/>
            <a:ext cx="7706404" cy="471722"/>
          </a:xfrm>
          <a:prstGeom prst="rect">
            <a:avLst/>
          </a:prstGeom>
        </p:spPr>
        <p:txBody>
          <a:bodyPr anchor="t" rtlCol="false" tIns="0" lIns="0" bIns="0" rIns="0">
            <a:spAutoFit/>
          </a:bodyPr>
          <a:lstStyle/>
          <a:p>
            <a:pPr algn="ctr">
              <a:lnSpc>
                <a:spcPts val="3924"/>
              </a:lnSpc>
              <a:spcBef>
                <a:spcPct val="0"/>
              </a:spcBef>
            </a:pPr>
            <a:r>
              <a:rPr lang="en-US" b="true" sz="2803">
                <a:solidFill>
                  <a:srgbClr val="04E1F9"/>
                </a:solidFill>
                <a:latin typeface="Montaser Arabic Bold"/>
                <a:ea typeface="Montaser Arabic Bold"/>
                <a:cs typeface="Montaser Arabic Bold"/>
                <a:sym typeface="Montaser Arabic Bold"/>
              </a:rPr>
              <a:t>PedidoController.java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5560891" y="2764311"/>
            <a:ext cx="7166218" cy="6145032"/>
          </a:xfrm>
          <a:custGeom>
            <a:avLst/>
            <a:gdLst/>
            <a:ahLst/>
            <a:cxnLst/>
            <a:rect r="r" b="b" t="t" l="l"/>
            <a:pathLst>
              <a:path h="6145032" w="7166218">
                <a:moveTo>
                  <a:pt x="0" y="0"/>
                </a:moveTo>
                <a:lnTo>
                  <a:pt x="7166218" y="0"/>
                </a:lnTo>
                <a:lnTo>
                  <a:pt x="7166218" y="6145031"/>
                </a:lnTo>
                <a:lnTo>
                  <a:pt x="0" y="6145031"/>
                </a:lnTo>
                <a:lnTo>
                  <a:pt x="0" y="0"/>
                </a:lnTo>
                <a:close/>
              </a:path>
            </a:pathLst>
          </a:custGeom>
          <a:blipFill>
            <a:blip r:embed="rId6"/>
            <a:stretch>
              <a:fillRect l="0" t="0" r="0" b="0"/>
            </a:stretch>
          </a:blipFill>
        </p:spPr>
      </p:sp>
      <p:sp>
        <p:nvSpPr>
          <p:cNvPr name="TextBox 7" id="7"/>
          <p:cNvSpPr txBox="true"/>
          <p:nvPr/>
        </p:nvSpPr>
        <p:spPr>
          <a:xfrm rot="0">
            <a:off x="5290798" y="1729577"/>
            <a:ext cx="7706404" cy="471722"/>
          </a:xfrm>
          <a:prstGeom prst="rect">
            <a:avLst/>
          </a:prstGeom>
        </p:spPr>
        <p:txBody>
          <a:bodyPr anchor="t" rtlCol="false" tIns="0" lIns="0" bIns="0" rIns="0">
            <a:spAutoFit/>
          </a:bodyPr>
          <a:lstStyle/>
          <a:p>
            <a:pPr algn="ctr">
              <a:lnSpc>
                <a:spcPts val="3924"/>
              </a:lnSpc>
              <a:spcBef>
                <a:spcPct val="0"/>
              </a:spcBef>
            </a:pPr>
            <a:r>
              <a:rPr lang="en-US" b="true" sz="2803">
                <a:solidFill>
                  <a:srgbClr val="04E1F9"/>
                </a:solidFill>
                <a:latin typeface="Montaser Arabic Bold"/>
                <a:ea typeface="Montaser Arabic Bold"/>
                <a:cs typeface="Montaser Arabic Bold"/>
                <a:sym typeface="Montaser Arabic Bold"/>
              </a:rPr>
              <a:t>ProductoController.java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5105014" y="2774523"/>
            <a:ext cx="8077972" cy="5947407"/>
          </a:xfrm>
          <a:custGeom>
            <a:avLst/>
            <a:gdLst/>
            <a:ahLst/>
            <a:cxnLst/>
            <a:rect r="r" b="b" t="t" l="l"/>
            <a:pathLst>
              <a:path h="5947407" w="8077972">
                <a:moveTo>
                  <a:pt x="0" y="0"/>
                </a:moveTo>
                <a:lnTo>
                  <a:pt x="8077972" y="0"/>
                </a:lnTo>
                <a:lnTo>
                  <a:pt x="8077972" y="5947407"/>
                </a:lnTo>
                <a:lnTo>
                  <a:pt x="0" y="5947407"/>
                </a:lnTo>
                <a:lnTo>
                  <a:pt x="0" y="0"/>
                </a:lnTo>
                <a:close/>
              </a:path>
            </a:pathLst>
          </a:custGeom>
          <a:blipFill>
            <a:blip r:embed="rId6"/>
            <a:stretch>
              <a:fillRect l="0" t="0" r="0" b="0"/>
            </a:stretch>
          </a:blipFill>
        </p:spPr>
      </p:sp>
      <p:sp>
        <p:nvSpPr>
          <p:cNvPr name="TextBox 7" id="7"/>
          <p:cNvSpPr txBox="true"/>
          <p:nvPr/>
        </p:nvSpPr>
        <p:spPr>
          <a:xfrm rot="0">
            <a:off x="5290798" y="1729577"/>
            <a:ext cx="7706404" cy="471722"/>
          </a:xfrm>
          <a:prstGeom prst="rect">
            <a:avLst/>
          </a:prstGeom>
        </p:spPr>
        <p:txBody>
          <a:bodyPr anchor="t" rtlCol="false" tIns="0" lIns="0" bIns="0" rIns="0">
            <a:spAutoFit/>
          </a:bodyPr>
          <a:lstStyle/>
          <a:p>
            <a:pPr algn="ctr">
              <a:lnSpc>
                <a:spcPts val="3924"/>
              </a:lnSpc>
              <a:spcBef>
                <a:spcPct val="0"/>
              </a:spcBef>
            </a:pPr>
            <a:r>
              <a:rPr lang="en-US" b="true" sz="2803">
                <a:solidFill>
                  <a:srgbClr val="04E1F9"/>
                </a:solidFill>
                <a:latin typeface="Montaser Arabic Bold"/>
                <a:ea typeface="Montaser Arabic Bold"/>
                <a:cs typeface="Montaser Arabic Bold"/>
                <a:sym typeface="Montaser Arabic Bold"/>
              </a:rPr>
              <a:t>UsuarioController.java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6082573" y="4729160"/>
            <a:ext cx="6122855" cy="3382877"/>
          </a:xfrm>
          <a:custGeom>
            <a:avLst/>
            <a:gdLst/>
            <a:ahLst/>
            <a:cxnLst/>
            <a:rect r="r" b="b" t="t" l="l"/>
            <a:pathLst>
              <a:path h="3382877" w="6122855">
                <a:moveTo>
                  <a:pt x="0" y="0"/>
                </a:moveTo>
                <a:lnTo>
                  <a:pt x="6122854" y="0"/>
                </a:lnTo>
                <a:lnTo>
                  <a:pt x="6122854" y="3382877"/>
                </a:lnTo>
                <a:lnTo>
                  <a:pt x="0" y="3382877"/>
                </a:lnTo>
                <a:lnTo>
                  <a:pt x="0" y="0"/>
                </a:lnTo>
                <a:close/>
              </a:path>
            </a:pathLst>
          </a:custGeom>
          <a:blipFill>
            <a:blip r:embed="rId6"/>
            <a:stretch>
              <a:fillRect l="0" t="0" r="0" b="0"/>
            </a:stretch>
          </a:blipFill>
        </p:spPr>
      </p:sp>
      <p:sp>
        <p:nvSpPr>
          <p:cNvPr name="TextBox 7" id="7"/>
          <p:cNvSpPr txBox="true"/>
          <p:nvPr/>
        </p:nvSpPr>
        <p:spPr>
          <a:xfrm rot="0">
            <a:off x="1028700" y="1971027"/>
            <a:ext cx="16230600" cy="2561508"/>
          </a:xfrm>
          <a:prstGeom prst="rect">
            <a:avLst/>
          </a:prstGeom>
        </p:spPr>
        <p:txBody>
          <a:bodyPr anchor="t" rtlCol="false" tIns="0" lIns="0" bIns="0" rIns="0">
            <a:spAutoFit/>
          </a:bodyPr>
          <a:lstStyle/>
          <a:p>
            <a:pPr algn="ctr">
              <a:lnSpc>
                <a:spcPts val="6864"/>
              </a:lnSpc>
            </a:pPr>
            <a:r>
              <a:rPr lang="en-US" sz="4903" b="true">
                <a:solidFill>
                  <a:srgbClr val="FFFFFF"/>
                </a:solidFill>
                <a:latin typeface="Montaser Arabic Ultra-Bold"/>
                <a:ea typeface="Montaser Arabic Ultra-Bold"/>
                <a:cs typeface="Montaser Arabic Ultra-Bold"/>
                <a:sym typeface="Montaser Arabic Ultra-Bold"/>
              </a:rPr>
              <a:t>3. IMPLEMENTACIÓN DEL MANEJO DE DATOS </a:t>
            </a:r>
          </a:p>
          <a:p>
            <a:pPr algn="ctr">
              <a:lnSpc>
                <a:spcPts val="6864"/>
              </a:lnSpc>
            </a:pPr>
            <a:r>
              <a:rPr lang="en-US" sz="4903" b="true">
                <a:solidFill>
                  <a:srgbClr val="FFFFFF"/>
                </a:solidFill>
                <a:latin typeface="Montaser Arabic Ultra-Bold"/>
                <a:ea typeface="Montaser Arabic Ultra-Bold"/>
                <a:cs typeface="Montaser Arabic Ultra-Bold"/>
                <a:sym typeface="Montaser Arabic Ultra-Bold"/>
              </a:rPr>
              <a:t>CON JPA HIBERNATE</a:t>
            </a:r>
          </a:p>
          <a:p>
            <a:pPr algn="ctr">
              <a:lnSpc>
                <a:spcPts val="6864"/>
              </a:lnSpc>
              <a:spcBef>
                <a:spcPct val="0"/>
              </a:spcBef>
            </a:pPr>
          </a:p>
        </p:txBody>
      </p:sp>
      <p:sp>
        <p:nvSpPr>
          <p:cNvPr name="TextBox 8" id="8"/>
          <p:cNvSpPr txBox="true"/>
          <p:nvPr/>
        </p:nvSpPr>
        <p:spPr>
          <a:xfrm rot="0">
            <a:off x="2148005" y="3886050"/>
            <a:ext cx="13991990"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Implementación del manejo de datos con JPA HIBERNATE del proyecto web</a:t>
            </a:r>
          </a:p>
          <a:p>
            <a:pPr algn="ctr">
              <a:lnSpc>
                <a:spcPts val="3397"/>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1407122"/>
            <a:ext cx="5623249" cy="7472757"/>
          </a:xfrm>
          <a:custGeom>
            <a:avLst/>
            <a:gdLst/>
            <a:ahLst/>
            <a:cxnLst/>
            <a:rect r="r" b="b" t="t" l="l"/>
            <a:pathLst>
              <a:path h="7472757" w="5623249">
                <a:moveTo>
                  <a:pt x="0" y="0"/>
                </a:moveTo>
                <a:lnTo>
                  <a:pt x="5623249" y="0"/>
                </a:lnTo>
                <a:lnTo>
                  <a:pt x="5623249" y="7472756"/>
                </a:lnTo>
                <a:lnTo>
                  <a:pt x="0" y="7472756"/>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Cliente.java</a:t>
            </a:r>
          </a:p>
          <a:p>
            <a:pPr algn="ctr">
              <a:lnSpc>
                <a:spcPts val="3397"/>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1680106"/>
            <a:ext cx="5913095" cy="7232241"/>
          </a:xfrm>
          <a:custGeom>
            <a:avLst/>
            <a:gdLst/>
            <a:ahLst/>
            <a:cxnLst/>
            <a:rect r="r" b="b" t="t" l="l"/>
            <a:pathLst>
              <a:path h="7232241" w="5913095">
                <a:moveTo>
                  <a:pt x="0" y="0"/>
                </a:moveTo>
                <a:lnTo>
                  <a:pt x="5913095" y="0"/>
                </a:lnTo>
                <a:lnTo>
                  <a:pt x="5913095" y="7232242"/>
                </a:lnTo>
                <a:lnTo>
                  <a:pt x="0" y="7232242"/>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Comprobante.java</a:t>
            </a:r>
          </a:p>
          <a:p>
            <a:pPr algn="ctr">
              <a:lnSpc>
                <a:spcPts val="3397"/>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1886223"/>
            <a:ext cx="5141306" cy="7372077"/>
          </a:xfrm>
          <a:custGeom>
            <a:avLst/>
            <a:gdLst/>
            <a:ahLst/>
            <a:cxnLst/>
            <a:rect r="r" b="b" t="t" l="l"/>
            <a:pathLst>
              <a:path h="7372077" w="5141306">
                <a:moveTo>
                  <a:pt x="0" y="0"/>
                </a:moveTo>
                <a:lnTo>
                  <a:pt x="5141306" y="0"/>
                </a:lnTo>
                <a:lnTo>
                  <a:pt x="5141306" y="7372077"/>
                </a:lnTo>
                <a:lnTo>
                  <a:pt x="0" y="7372077"/>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Detallepedido.java</a:t>
            </a:r>
          </a:p>
          <a:p>
            <a:pPr algn="ctr">
              <a:lnSpc>
                <a:spcPts val="3397"/>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1411332"/>
            <a:ext cx="4721192" cy="7464336"/>
          </a:xfrm>
          <a:custGeom>
            <a:avLst/>
            <a:gdLst/>
            <a:ahLst/>
            <a:cxnLst/>
            <a:rect r="r" b="b" t="t" l="l"/>
            <a:pathLst>
              <a:path h="7464336" w="4721192">
                <a:moveTo>
                  <a:pt x="0" y="0"/>
                </a:moveTo>
                <a:lnTo>
                  <a:pt x="4721192" y="0"/>
                </a:lnTo>
                <a:lnTo>
                  <a:pt x="4721192" y="7464336"/>
                </a:lnTo>
                <a:lnTo>
                  <a:pt x="0" y="7464336"/>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Pedido.java</a:t>
            </a:r>
          </a:p>
          <a:p>
            <a:pPr algn="ctr">
              <a:lnSpc>
                <a:spcPts val="3397"/>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1375193"/>
            <a:ext cx="5834799" cy="7536615"/>
          </a:xfrm>
          <a:custGeom>
            <a:avLst/>
            <a:gdLst/>
            <a:ahLst/>
            <a:cxnLst/>
            <a:rect r="r" b="b" t="t" l="l"/>
            <a:pathLst>
              <a:path h="7536615" w="5834799">
                <a:moveTo>
                  <a:pt x="0" y="0"/>
                </a:moveTo>
                <a:lnTo>
                  <a:pt x="5834799" y="0"/>
                </a:lnTo>
                <a:lnTo>
                  <a:pt x="5834799" y="7536614"/>
                </a:lnTo>
                <a:lnTo>
                  <a:pt x="0" y="7536614"/>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Producto.java</a:t>
            </a:r>
          </a:p>
          <a:p>
            <a:pPr algn="ctr">
              <a:lnSpc>
                <a:spcPts val="3397"/>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2085407"/>
            <a:ext cx="6787712" cy="6728893"/>
          </a:xfrm>
          <a:custGeom>
            <a:avLst/>
            <a:gdLst/>
            <a:ahLst/>
            <a:cxnLst/>
            <a:rect r="r" b="b" t="t" l="l"/>
            <a:pathLst>
              <a:path h="6728893" w="6787712">
                <a:moveTo>
                  <a:pt x="0" y="0"/>
                </a:moveTo>
                <a:lnTo>
                  <a:pt x="6787712" y="0"/>
                </a:lnTo>
                <a:lnTo>
                  <a:pt x="6787712" y="6728893"/>
                </a:lnTo>
                <a:lnTo>
                  <a:pt x="0" y="6728893"/>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Rol.java</a:t>
            </a:r>
          </a:p>
          <a:p>
            <a:pPr algn="ctr">
              <a:lnSpc>
                <a:spcPts val="3397"/>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2201298"/>
            <a:ext cx="5794972" cy="6195226"/>
          </a:xfrm>
          <a:custGeom>
            <a:avLst/>
            <a:gdLst/>
            <a:ahLst/>
            <a:cxnLst/>
            <a:rect r="r" b="b" t="t" l="l"/>
            <a:pathLst>
              <a:path h="6195226" w="5794972">
                <a:moveTo>
                  <a:pt x="0" y="0"/>
                </a:moveTo>
                <a:lnTo>
                  <a:pt x="5794972" y="0"/>
                </a:lnTo>
                <a:lnTo>
                  <a:pt x="5794972" y="6195226"/>
                </a:lnTo>
                <a:lnTo>
                  <a:pt x="0" y="6195226"/>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Usuario.java</a:t>
            </a:r>
          </a:p>
          <a:p>
            <a:pPr algn="ctr">
              <a:lnSpc>
                <a:spcPts val="3397"/>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9144000" y="1861789"/>
            <a:ext cx="7086428" cy="7176130"/>
          </a:xfrm>
          <a:custGeom>
            <a:avLst/>
            <a:gdLst/>
            <a:ahLst/>
            <a:cxnLst/>
            <a:rect r="r" b="b" t="t" l="l"/>
            <a:pathLst>
              <a:path h="7176130" w="7086428">
                <a:moveTo>
                  <a:pt x="0" y="0"/>
                </a:moveTo>
                <a:lnTo>
                  <a:pt x="7086428" y="0"/>
                </a:lnTo>
                <a:lnTo>
                  <a:pt x="7086428" y="7176129"/>
                </a:lnTo>
                <a:lnTo>
                  <a:pt x="0" y="7176129"/>
                </a:lnTo>
                <a:lnTo>
                  <a:pt x="0" y="0"/>
                </a:lnTo>
                <a:close/>
              </a:path>
            </a:pathLst>
          </a:custGeom>
          <a:blipFill>
            <a:blip r:embed="rId6"/>
            <a:stretch>
              <a:fillRect l="0" t="0" r="0" b="0"/>
            </a:stretch>
          </a:blipFill>
        </p:spPr>
      </p:sp>
      <p:sp>
        <p:nvSpPr>
          <p:cNvPr name="TextBox 7" id="7"/>
          <p:cNvSpPr txBox="true"/>
          <p:nvPr/>
        </p:nvSpPr>
        <p:spPr>
          <a:xfrm rot="0">
            <a:off x="3623340" y="4606744"/>
            <a:ext cx="4156427"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ClienteRepository.java</a:t>
            </a:r>
          </a:p>
          <a:p>
            <a:pPr algn="ctr">
              <a:lnSpc>
                <a:spcPts val="3397"/>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7945645" y="1494364"/>
            <a:ext cx="7943345" cy="2373510"/>
          </a:xfrm>
          <a:custGeom>
            <a:avLst/>
            <a:gdLst/>
            <a:ahLst/>
            <a:cxnLst/>
            <a:rect r="r" b="b" t="t" l="l"/>
            <a:pathLst>
              <a:path h="2373510" w="7943345">
                <a:moveTo>
                  <a:pt x="0" y="0"/>
                </a:moveTo>
                <a:lnTo>
                  <a:pt x="7943345" y="0"/>
                </a:lnTo>
                <a:lnTo>
                  <a:pt x="7943345" y="2373509"/>
                </a:lnTo>
                <a:lnTo>
                  <a:pt x="0" y="2373509"/>
                </a:lnTo>
                <a:lnTo>
                  <a:pt x="0" y="0"/>
                </a:lnTo>
                <a:close/>
              </a:path>
            </a:pathLst>
          </a:custGeom>
          <a:blipFill>
            <a:blip r:embed="rId6"/>
            <a:stretch>
              <a:fillRect l="0" t="0" r="0" b="0"/>
            </a:stretch>
          </a:blipFill>
        </p:spPr>
      </p:sp>
      <p:sp>
        <p:nvSpPr>
          <p:cNvPr name="Freeform 7" id="7"/>
          <p:cNvSpPr/>
          <p:nvPr/>
        </p:nvSpPr>
        <p:spPr>
          <a:xfrm flipH="false" flipV="false" rot="0">
            <a:off x="7945645" y="4014829"/>
            <a:ext cx="8290367" cy="5318415"/>
          </a:xfrm>
          <a:custGeom>
            <a:avLst/>
            <a:gdLst/>
            <a:ahLst/>
            <a:cxnLst/>
            <a:rect r="r" b="b" t="t" l="l"/>
            <a:pathLst>
              <a:path h="5318415" w="8290367">
                <a:moveTo>
                  <a:pt x="0" y="0"/>
                </a:moveTo>
                <a:lnTo>
                  <a:pt x="8290366" y="0"/>
                </a:lnTo>
                <a:lnTo>
                  <a:pt x="8290366" y="5318415"/>
                </a:lnTo>
                <a:lnTo>
                  <a:pt x="0" y="5318415"/>
                </a:lnTo>
                <a:lnTo>
                  <a:pt x="0" y="0"/>
                </a:lnTo>
                <a:close/>
              </a:path>
            </a:pathLst>
          </a:custGeom>
          <a:blipFill>
            <a:blip r:embed="rId7"/>
            <a:stretch>
              <a:fillRect l="0" t="0" r="-5725" b="-2590"/>
            </a:stretch>
          </a:blipFill>
        </p:spPr>
      </p:sp>
      <p:sp>
        <p:nvSpPr>
          <p:cNvPr name="TextBox 8" id="8"/>
          <p:cNvSpPr txBox="true"/>
          <p:nvPr/>
        </p:nvSpPr>
        <p:spPr>
          <a:xfrm rot="0">
            <a:off x="1601191" y="2411277"/>
            <a:ext cx="5126272"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ComprobanteRepository.java</a:t>
            </a:r>
          </a:p>
          <a:p>
            <a:pPr algn="ctr">
              <a:lnSpc>
                <a:spcPts val="3397"/>
              </a:lnSpc>
            </a:pPr>
          </a:p>
        </p:txBody>
      </p:sp>
      <p:sp>
        <p:nvSpPr>
          <p:cNvPr name="TextBox 9" id="9"/>
          <p:cNvSpPr txBox="true"/>
          <p:nvPr/>
        </p:nvSpPr>
        <p:spPr>
          <a:xfrm rot="0">
            <a:off x="1488324" y="6242956"/>
            <a:ext cx="5239139"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PedidoDetalleRepository.java</a:t>
            </a:r>
          </a:p>
          <a:p>
            <a:pPr algn="ctr">
              <a:lnSpc>
                <a:spcPts val="3397"/>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1222186" y="3056697"/>
            <a:ext cx="7679213" cy="5221865"/>
          </a:xfrm>
          <a:custGeom>
            <a:avLst/>
            <a:gdLst/>
            <a:ahLst/>
            <a:cxnLst/>
            <a:rect r="r" b="b" t="t" l="l"/>
            <a:pathLst>
              <a:path h="5221865" w="7679213">
                <a:moveTo>
                  <a:pt x="0" y="0"/>
                </a:moveTo>
                <a:lnTo>
                  <a:pt x="7679213" y="0"/>
                </a:lnTo>
                <a:lnTo>
                  <a:pt x="7679213" y="5221864"/>
                </a:lnTo>
                <a:lnTo>
                  <a:pt x="0" y="5221864"/>
                </a:lnTo>
                <a:lnTo>
                  <a:pt x="0" y="0"/>
                </a:lnTo>
                <a:close/>
              </a:path>
            </a:pathLst>
          </a:custGeom>
          <a:blipFill>
            <a:blip r:embed="rId6"/>
            <a:stretch>
              <a:fillRect l="0" t="0" r="0" b="0"/>
            </a:stretch>
          </a:blipFill>
        </p:spPr>
      </p:sp>
      <p:sp>
        <p:nvSpPr>
          <p:cNvPr name="Freeform 7" id="7"/>
          <p:cNvSpPr/>
          <p:nvPr/>
        </p:nvSpPr>
        <p:spPr>
          <a:xfrm flipH="false" flipV="false" rot="0">
            <a:off x="9284365" y="3214327"/>
            <a:ext cx="8043614" cy="4906605"/>
          </a:xfrm>
          <a:custGeom>
            <a:avLst/>
            <a:gdLst/>
            <a:ahLst/>
            <a:cxnLst/>
            <a:rect r="r" b="b" t="t" l="l"/>
            <a:pathLst>
              <a:path h="4906605" w="8043614">
                <a:moveTo>
                  <a:pt x="0" y="0"/>
                </a:moveTo>
                <a:lnTo>
                  <a:pt x="8043614" y="0"/>
                </a:lnTo>
                <a:lnTo>
                  <a:pt x="8043614" y="4906604"/>
                </a:lnTo>
                <a:lnTo>
                  <a:pt x="0" y="4906604"/>
                </a:lnTo>
                <a:lnTo>
                  <a:pt x="0" y="0"/>
                </a:lnTo>
                <a:close/>
              </a:path>
            </a:pathLst>
          </a:custGeom>
          <a:blipFill>
            <a:blip r:embed="rId7"/>
            <a:stretch>
              <a:fillRect l="0" t="0" r="0" b="0"/>
            </a:stretch>
          </a:blipFill>
        </p:spPr>
      </p:sp>
      <p:sp>
        <p:nvSpPr>
          <p:cNvPr name="TextBox 8" id="8"/>
          <p:cNvSpPr txBox="true"/>
          <p:nvPr/>
        </p:nvSpPr>
        <p:spPr>
          <a:xfrm rot="0">
            <a:off x="6721229" y="1770218"/>
            <a:ext cx="5126272"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PedidoRepository.java</a:t>
            </a:r>
          </a:p>
          <a:p>
            <a:pPr algn="ctr">
              <a:lnSpc>
                <a:spcPts val="3397"/>
              </a:lnSpc>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1028700" y="3373318"/>
            <a:ext cx="8407117" cy="5884982"/>
          </a:xfrm>
          <a:custGeom>
            <a:avLst/>
            <a:gdLst/>
            <a:ahLst/>
            <a:cxnLst/>
            <a:rect r="r" b="b" t="t" l="l"/>
            <a:pathLst>
              <a:path h="5884982" w="8407117">
                <a:moveTo>
                  <a:pt x="0" y="0"/>
                </a:moveTo>
                <a:lnTo>
                  <a:pt x="8407117" y="0"/>
                </a:lnTo>
                <a:lnTo>
                  <a:pt x="8407117" y="5884982"/>
                </a:lnTo>
                <a:lnTo>
                  <a:pt x="0" y="5884982"/>
                </a:lnTo>
                <a:lnTo>
                  <a:pt x="0" y="0"/>
                </a:lnTo>
                <a:close/>
              </a:path>
            </a:pathLst>
          </a:custGeom>
          <a:blipFill>
            <a:blip r:embed="rId6"/>
            <a:stretch>
              <a:fillRect l="0" t="0" r="0" b="0"/>
            </a:stretch>
          </a:blipFill>
        </p:spPr>
      </p:sp>
      <p:sp>
        <p:nvSpPr>
          <p:cNvPr name="Freeform 7" id="7"/>
          <p:cNvSpPr/>
          <p:nvPr/>
        </p:nvSpPr>
        <p:spPr>
          <a:xfrm flipH="false" flipV="false" rot="0">
            <a:off x="9864824" y="3373318"/>
            <a:ext cx="7236765" cy="2237959"/>
          </a:xfrm>
          <a:custGeom>
            <a:avLst/>
            <a:gdLst/>
            <a:ahLst/>
            <a:cxnLst/>
            <a:rect r="r" b="b" t="t" l="l"/>
            <a:pathLst>
              <a:path h="2237959" w="7236765">
                <a:moveTo>
                  <a:pt x="0" y="0"/>
                </a:moveTo>
                <a:lnTo>
                  <a:pt x="7236765" y="0"/>
                </a:lnTo>
                <a:lnTo>
                  <a:pt x="7236765" y="2237959"/>
                </a:lnTo>
                <a:lnTo>
                  <a:pt x="0" y="2237959"/>
                </a:lnTo>
                <a:lnTo>
                  <a:pt x="0" y="0"/>
                </a:lnTo>
                <a:close/>
              </a:path>
            </a:pathLst>
          </a:custGeom>
          <a:blipFill>
            <a:blip r:embed="rId7"/>
            <a:stretch>
              <a:fillRect l="0" t="0" r="0" b="0"/>
            </a:stretch>
          </a:blipFill>
        </p:spPr>
      </p:sp>
      <p:sp>
        <p:nvSpPr>
          <p:cNvPr name="TextBox 8" id="8"/>
          <p:cNvSpPr txBox="true"/>
          <p:nvPr/>
        </p:nvSpPr>
        <p:spPr>
          <a:xfrm rot="0">
            <a:off x="2496774" y="1794559"/>
            <a:ext cx="5126272"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ProductoRepository.java</a:t>
            </a:r>
          </a:p>
          <a:p>
            <a:pPr algn="ctr">
              <a:lnSpc>
                <a:spcPts val="3397"/>
              </a:lnSpc>
            </a:pPr>
          </a:p>
        </p:txBody>
      </p:sp>
      <p:sp>
        <p:nvSpPr>
          <p:cNvPr name="TextBox 9" id="9"/>
          <p:cNvSpPr txBox="true"/>
          <p:nvPr/>
        </p:nvSpPr>
        <p:spPr>
          <a:xfrm rot="0">
            <a:off x="10920070" y="1770218"/>
            <a:ext cx="5126272"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RolRepository.java</a:t>
            </a:r>
          </a:p>
          <a:p>
            <a:pPr algn="ctr">
              <a:lnSpc>
                <a:spcPts val="3397"/>
              </a:lnSpc>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3982685" y="-2217964"/>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6" id="6"/>
          <p:cNvSpPr/>
          <p:nvPr/>
        </p:nvSpPr>
        <p:spPr>
          <a:xfrm flipH="false" flipV="false" rot="0">
            <a:off x="5149234" y="3167687"/>
            <a:ext cx="7989532" cy="5757499"/>
          </a:xfrm>
          <a:custGeom>
            <a:avLst/>
            <a:gdLst/>
            <a:ahLst/>
            <a:cxnLst/>
            <a:rect r="r" b="b" t="t" l="l"/>
            <a:pathLst>
              <a:path h="5757499" w="7989532">
                <a:moveTo>
                  <a:pt x="0" y="0"/>
                </a:moveTo>
                <a:lnTo>
                  <a:pt x="7989532" y="0"/>
                </a:lnTo>
                <a:lnTo>
                  <a:pt x="7989532" y="5757500"/>
                </a:lnTo>
                <a:lnTo>
                  <a:pt x="0" y="5757500"/>
                </a:lnTo>
                <a:lnTo>
                  <a:pt x="0" y="0"/>
                </a:lnTo>
                <a:close/>
              </a:path>
            </a:pathLst>
          </a:custGeom>
          <a:blipFill>
            <a:blip r:embed="rId6"/>
            <a:stretch>
              <a:fillRect l="0" t="0" r="0" b="0"/>
            </a:stretch>
          </a:blipFill>
        </p:spPr>
      </p:sp>
      <p:sp>
        <p:nvSpPr>
          <p:cNvPr name="TextBox 7" id="7"/>
          <p:cNvSpPr txBox="true"/>
          <p:nvPr/>
        </p:nvSpPr>
        <p:spPr>
          <a:xfrm rot="0">
            <a:off x="6580864" y="1794559"/>
            <a:ext cx="5126272"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UsuarioRepository.java</a:t>
            </a:r>
          </a:p>
          <a:p>
            <a:pPr algn="ctr">
              <a:lnSpc>
                <a:spcPts val="3397"/>
              </a:lnSpc>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6989827" y="4646006"/>
            <a:ext cx="4308345" cy="4308345"/>
          </a:xfrm>
          <a:custGeom>
            <a:avLst/>
            <a:gdLst/>
            <a:ahLst/>
            <a:cxnLst/>
            <a:rect r="r" b="b" t="t" l="l"/>
            <a:pathLst>
              <a:path h="4308345" w="4308345">
                <a:moveTo>
                  <a:pt x="0" y="0"/>
                </a:moveTo>
                <a:lnTo>
                  <a:pt x="4308346" y="0"/>
                </a:lnTo>
                <a:lnTo>
                  <a:pt x="4308346" y="4308345"/>
                </a:lnTo>
                <a:lnTo>
                  <a:pt x="0" y="4308345"/>
                </a:lnTo>
                <a:lnTo>
                  <a:pt x="0" y="0"/>
                </a:lnTo>
                <a:close/>
              </a:path>
            </a:pathLst>
          </a:custGeom>
          <a:blipFill>
            <a:blip r:embed="rId6"/>
            <a:stretch>
              <a:fillRect l="0" t="0" r="0" b="0"/>
            </a:stretch>
          </a:blipFill>
        </p:spPr>
      </p:sp>
      <p:sp>
        <p:nvSpPr>
          <p:cNvPr name="TextBox 8" id="8"/>
          <p:cNvSpPr txBox="true"/>
          <p:nvPr/>
        </p:nvSpPr>
        <p:spPr>
          <a:xfrm rot="0">
            <a:off x="1437596" y="1651998"/>
            <a:ext cx="14516632" cy="2561508"/>
          </a:xfrm>
          <a:prstGeom prst="rect">
            <a:avLst/>
          </a:prstGeom>
        </p:spPr>
        <p:txBody>
          <a:bodyPr anchor="t" rtlCol="false" tIns="0" lIns="0" bIns="0" rIns="0">
            <a:spAutoFit/>
          </a:bodyPr>
          <a:lstStyle/>
          <a:p>
            <a:pPr algn="ctr">
              <a:lnSpc>
                <a:spcPts val="6864"/>
              </a:lnSpc>
            </a:pPr>
            <a:r>
              <a:rPr lang="en-US" sz="4903" b="true">
                <a:solidFill>
                  <a:srgbClr val="FFFFFF"/>
                </a:solidFill>
                <a:latin typeface="Montaser Arabic Ultra-Bold"/>
                <a:ea typeface="Montaser Arabic Ultra-Bold"/>
                <a:cs typeface="Montaser Arabic Ultra-Bold"/>
                <a:sym typeface="Montaser Arabic Ultra-Bold"/>
              </a:rPr>
              <a:t>4. IMPLEMENTACIÓN DE </a:t>
            </a:r>
            <a:r>
              <a:rPr lang="en-US" sz="4903" b="true">
                <a:solidFill>
                  <a:srgbClr val="FFFFFF"/>
                </a:solidFill>
                <a:latin typeface="Montaser Arabic Ultra-Bold"/>
                <a:ea typeface="Montaser Arabic Ultra-Bold"/>
                <a:cs typeface="Montaser Arabic Ultra-Bold"/>
                <a:sym typeface="Montaser Arabic Ultra-Bold"/>
              </a:rPr>
              <a:t>FRONT-END </a:t>
            </a:r>
          </a:p>
          <a:p>
            <a:pPr algn="ctr">
              <a:lnSpc>
                <a:spcPts val="6864"/>
              </a:lnSpc>
            </a:pPr>
            <a:r>
              <a:rPr lang="en-US" sz="4903" b="true">
                <a:solidFill>
                  <a:srgbClr val="FFFFFF"/>
                </a:solidFill>
                <a:latin typeface="Montaser Arabic Ultra-Bold"/>
                <a:ea typeface="Montaser Arabic Ultra-Bold"/>
                <a:cs typeface="Montaser Arabic Ultra-Bold"/>
                <a:sym typeface="Montaser Arabic Ultra-Bold"/>
              </a:rPr>
              <a:t>EN ANGULAR</a:t>
            </a:r>
          </a:p>
          <a:p>
            <a:pPr algn="l">
              <a:lnSpc>
                <a:spcPts val="6864"/>
              </a:lnSpc>
              <a:spcBef>
                <a:spcPct val="0"/>
              </a:spcBef>
            </a:pPr>
          </a:p>
        </p:txBody>
      </p:sp>
      <p:sp>
        <p:nvSpPr>
          <p:cNvPr name="TextBox 9" id="9"/>
          <p:cNvSpPr txBox="true"/>
          <p:nvPr/>
        </p:nvSpPr>
        <p:spPr>
          <a:xfrm rot="0">
            <a:off x="1437596" y="3612396"/>
            <a:ext cx="14516632" cy="843110"/>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Implementación de la aplicación (front-end) en angular</a:t>
            </a:r>
          </a:p>
          <a:p>
            <a:pPr algn="ctr">
              <a:lnSpc>
                <a:spcPts val="3397"/>
              </a:lnSpc>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3208877" y="2830524"/>
            <a:ext cx="11301259" cy="6074427"/>
          </a:xfrm>
          <a:custGeom>
            <a:avLst/>
            <a:gdLst/>
            <a:ahLst/>
            <a:cxnLst/>
            <a:rect r="r" b="b" t="t" l="l"/>
            <a:pathLst>
              <a:path h="6074427" w="11301259">
                <a:moveTo>
                  <a:pt x="0" y="0"/>
                </a:moveTo>
                <a:lnTo>
                  <a:pt x="11301259" y="0"/>
                </a:lnTo>
                <a:lnTo>
                  <a:pt x="11301259" y="6074427"/>
                </a:lnTo>
                <a:lnTo>
                  <a:pt x="0" y="6074427"/>
                </a:lnTo>
                <a:lnTo>
                  <a:pt x="0" y="0"/>
                </a:lnTo>
                <a:close/>
              </a:path>
            </a:pathLst>
          </a:custGeom>
          <a:blipFill>
            <a:blip r:embed="rId6"/>
            <a:stretch>
              <a:fillRect l="0" t="0" r="0" b="0"/>
            </a:stretch>
          </a:blipFill>
        </p:spPr>
      </p:sp>
      <p:sp>
        <p:nvSpPr>
          <p:cNvPr name="TextBox 8" id="8"/>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localhost:4200/login</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3493371" y="2830524"/>
            <a:ext cx="11301259" cy="6074427"/>
          </a:xfrm>
          <a:custGeom>
            <a:avLst/>
            <a:gdLst/>
            <a:ahLst/>
            <a:cxnLst/>
            <a:rect r="r" b="b" t="t" l="l"/>
            <a:pathLst>
              <a:path h="6074427" w="11301259">
                <a:moveTo>
                  <a:pt x="0" y="0"/>
                </a:moveTo>
                <a:lnTo>
                  <a:pt x="11301258" y="0"/>
                </a:lnTo>
                <a:lnTo>
                  <a:pt x="11301258" y="6074427"/>
                </a:lnTo>
                <a:lnTo>
                  <a:pt x="0" y="6074427"/>
                </a:lnTo>
                <a:lnTo>
                  <a:pt x="0" y="0"/>
                </a:lnTo>
                <a:close/>
              </a:path>
            </a:pathLst>
          </a:custGeom>
          <a:blipFill>
            <a:blip r:embed="rId6"/>
            <a:stretch>
              <a:fillRect l="0" t="0" r="0" b="0"/>
            </a:stretch>
          </a:blipFill>
        </p:spPr>
      </p:sp>
      <p:sp>
        <p:nvSpPr>
          <p:cNvPr name="TextBox 8" id="8"/>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localhost:4200/admin/productos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1736738" y="2736296"/>
            <a:ext cx="3859878" cy="6262882"/>
          </a:xfrm>
          <a:custGeom>
            <a:avLst/>
            <a:gdLst/>
            <a:ahLst/>
            <a:cxnLst/>
            <a:rect r="r" b="b" t="t" l="l"/>
            <a:pathLst>
              <a:path h="6262882" w="3859878">
                <a:moveTo>
                  <a:pt x="0" y="0"/>
                </a:moveTo>
                <a:lnTo>
                  <a:pt x="3859878" y="0"/>
                </a:lnTo>
                <a:lnTo>
                  <a:pt x="3859878" y="6262883"/>
                </a:lnTo>
                <a:lnTo>
                  <a:pt x="0" y="6262883"/>
                </a:lnTo>
                <a:lnTo>
                  <a:pt x="0" y="0"/>
                </a:lnTo>
                <a:close/>
              </a:path>
            </a:pathLst>
          </a:custGeom>
          <a:blipFill>
            <a:blip r:embed="rId6"/>
            <a:stretch>
              <a:fillRect l="0" t="0" r="0" b="0"/>
            </a:stretch>
          </a:blipFill>
        </p:spPr>
      </p:sp>
      <p:sp>
        <p:nvSpPr>
          <p:cNvPr name="Freeform 8" id="8"/>
          <p:cNvSpPr/>
          <p:nvPr/>
        </p:nvSpPr>
        <p:spPr>
          <a:xfrm flipH="false" flipV="false" rot="0">
            <a:off x="6221780" y="2732599"/>
            <a:ext cx="3985545" cy="6266580"/>
          </a:xfrm>
          <a:custGeom>
            <a:avLst/>
            <a:gdLst/>
            <a:ahLst/>
            <a:cxnLst/>
            <a:rect r="r" b="b" t="t" l="l"/>
            <a:pathLst>
              <a:path h="6266580" w="3985545">
                <a:moveTo>
                  <a:pt x="0" y="0"/>
                </a:moveTo>
                <a:lnTo>
                  <a:pt x="3985544" y="0"/>
                </a:lnTo>
                <a:lnTo>
                  <a:pt x="3985544" y="6266580"/>
                </a:lnTo>
                <a:lnTo>
                  <a:pt x="0" y="6266580"/>
                </a:lnTo>
                <a:lnTo>
                  <a:pt x="0" y="0"/>
                </a:lnTo>
                <a:close/>
              </a:path>
            </a:pathLst>
          </a:custGeom>
          <a:blipFill>
            <a:blip r:embed="rId7"/>
            <a:stretch>
              <a:fillRect l="0" t="0" r="0" b="0"/>
            </a:stretch>
          </a:blipFill>
        </p:spPr>
      </p:sp>
      <p:sp>
        <p:nvSpPr>
          <p:cNvPr name="Freeform 9" id="9"/>
          <p:cNvSpPr/>
          <p:nvPr/>
        </p:nvSpPr>
        <p:spPr>
          <a:xfrm flipH="false" flipV="false" rot="0">
            <a:off x="11175049" y="5769146"/>
            <a:ext cx="5273671" cy="2022916"/>
          </a:xfrm>
          <a:custGeom>
            <a:avLst/>
            <a:gdLst/>
            <a:ahLst/>
            <a:cxnLst/>
            <a:rect r="r" b="b" t="t" l="l"/>
            <a:pathLst>
              <a:path h="2022916" w="5273671">
                <a:moveTo>
                  <a:pt x="0" y="0"/>
                </a:moveTo>
                <a:lnTo>
                  <a:pt x="5273671" y="0"/>
                </a:lnTo>
                <a:lnTo>
                  <a:pt x="5273671" y="2022916"/>
                </a:lnTo>
                <a:lnTo>
                  <a:pt x="0" y="2022916"/>
                </a:lnTo>
                <a:lnTo>
                  <a:pt x="0" y="0"/>
                </a:lnTo>
                <a:close/>
              </a:path>
            </a:pathLst>
          </a:custGeom>
          <a:blipFill>
            <a:blip r:embed="rId8"/>
            <a:stretch>
              <a:fillRect l="0" t="0" r="0" b="0"/>
            </a:stretch>
          </a:blipFill>
        </p:spPr>
      </p:sp>
      <p:sp>
        <p:nvSpPr>
          <p:cNvPr name="Freeform 10" id="10"/>
          <p:cNvSpPr/>
          <p:nvPr/>
        </p:nvSpPr>
        <p:spPr>
          <a:xfrm flipH="false" flipV="false" rot="0">
            <a:off x="11175049" y="3411800"/>
            <a:ext cx="5273671" cy="2178942"/>
          </a:xfrm>
          <a:custGeom>
            <a:avLst/>
            <a:gdLst/>
            <a:ahLst/>
            <a:cxnLst/>
            <a:rect r="r" b="b" t="t" l="l"/>
            <a:pathLst>
              <a:path h="2178942" w="5273671">
                <a:moveTo>
                  <a:pt x="0" y="0"/>
                </a:moveTo>
                <a:lnTo>
                  <a:pt x="5273671" y="0"/>
                </a:lnTo>
                <a:lnTo>
                  <a:pt x="5273671" y="2178942"/>
                </a:lnTo>
                <a:lnTo>
                  <a:pt x="0" y="2178942"/>
                </a:lnTo>
                <a:lnTo>
                  <a:pt x="0" y="0"/>
                </a:lnTo>
                <a:close/>
              </a:path>
            </a:pathLst>
          </a:custGeom>
          <a:blipFill>
            <a:blip r:embed="rId9"/>
            <a:stretch>
              <a:fillRect l="0" t="0" r="0" b="0"/>
            </a:stretch>
          </a:blipFill>
        </p:spPr>
      </p:sp>
      <p:sp>
        <p:nvSpPr>
          <p:cNvPr name="TextBox 11" id="11"/>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localhost:4200/admin/productos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3493371" y="3005707"/>
            <a:ext cx="11301259" cy="6046174"/>
          </a:xfrm>
          <a:custGeom>
            <a:avLst/>
            <a:gdLst/>
            <a:ahLst/>
            <a:cxnLst/>
            <a:rect r="r" b="b" t="t" l="l"/>
            <a:pathLst>
              <a:path h="6046174" w="11301259">
                <a:moveTo>
                  <a:pt x="0" y="0"/>
                </a:moveTo>
                <a:lnTo>
                  <a:pt x="11301258" y="0"/>
                </a:lnTo>
                <a:lnTo>
                  <a:pt x="11301258" y="6046174"/>
                </a:lnTo>
                <a:lnTo>
                  <a:pt x="0" y="6046174"/>
                </a:lnTo>
                <a:lnTo>
                  <a:pt x="0" y="0"/>
                </a:lnTo>
                <a:close/>
              </a:path>
            </a:pathLst>
          </a:custGeom>
          <a:blipFill>
            <a:blip r:embed="rId6"/>
            <a:stretch>
              <a:fillRect l="0" t="0" r="0" b="0"/>
            </a:stretch>
          </a:blipFill>
        </p:spPr>
      </p:sp>
      <p:sp>
        <p:nvSpPr>
          <p:cNvPr name="TextBox 8" id="8"/>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localhost:4200/admin/clientes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3493371" y="2830524"/>
            <a:ext cx="11301259" cy="6074427"/>
          </a:xfrm>
          <a:custGeom>
            <a:avLst/>
            <a:gdLst/>
            <a:ahLst/>
            <a:cxnLst/>
            <a:rect r="r" b="b" t="t" l="l"/>
            <a:pathLst>
              <a:path h="6074427" w="11301259">
                <a:moveTo>
                  <a:pt x="0" y="0"/>
                </a:moveTo>
                <a:lnTo>
                  <a:pt x="11301258" y="0"/>
                </a:lnTo>
                <a:lnTo>
                  <a:pt x="11301258" y="6074427"/>
                </a:lnTo>
                <a:lnTo>
                  <a:pt x="0" y="6074427"/>
                </a:lnTo>
                <a:lnTo>
                  <a:pt x="0" y="0"/>
                </a:lnTo>
                <a:close/>
              </a:path>
            </a:pathLst>
          </a:custGeom>
          <a:blipFill>
            <a:blip r:embed="rId6"/>
            <a:stretch>
              <a:fillRect l="0" t="0" r="0" b="0"/>
            </a:stretch>
          </a:blipFill>
        </p:spPr>
      </p:sp>
      <p:sp>
        <p:nvSpPr>
          <p:cNvPr name="TextBox 8" id="8"/>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localhost:4200/admin/pedidos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738470" y="3054079"/>
            <a:ext cx="11301259" cy="6074427"/>
          </a:xfrm>
          <a:custGeom>
            <a:avLst/>
            <a:gdLst/>
            <a:ahLst/>
            <a:cxnLst/>
            <a:rect r="r" b="b" t="t" l="l"/>
            <a:pathLst>
              <a:path h="6074427" w="11301259">
                <a:moveTo>
                  <a:pt x="0" y="0"/>
                </a:moveTo>
                <a:lnTo>
                  <a:pt x="11301259" y="0"/>
                </a:lnTo>
                <a:lnTo>
                  <a:pt x="11301259" y="6074426"/>
                </a:lnTo>
                <a:lnTo>
                  <a:pt x="0" y="6074426"/>
                </a:lnTo>
                <a:lnTo>
                  <a:pt x="0" y="0"/>
                </a:lnTo>
                <a:close/>
              </a:path>
            </a:pathLst>
          </a:custGeom>
          <a:blipFill>
            <a:blip r:embed="rId6"/>
            <a:stretch>
              <a:fillRect l="0" t="0" r="0" b="0"/>
            </a:stretch>
          </a:blipFill>
        </p:spPr>
      </p:sp>
      <p:sp>
        <p:nvSpPr>
          <p:cNvPr name="Freeform 8" id="8"/>
          <p:cNvSpPr/>
          <p:nvPr/>
        </p:nvSpPr>
        <p:spPr>
          <a:xfrm flipH="false" flipV="false" rot="0">
            <a:off x="12443133" y="4211951"/>
            <a:ext cx="5001471" cy="1879341"/>
          </a:xfrm>
          <a:custGeom>
            <a:avLst/>
            <a:gdLst/>
            <a:ahLst/>
            <a:cxnLst/>
            <a:rect r="r" b="b" t="t" l="l"/>
            <a:pathLst>
              <a:path h="1879341" w="5001471">
                <a:moveTo>
                  <a:pt x="0" y="0"/>
                </a:moveTo>
                <a:lnTo>
                  <a:pt x="5001471" y="0"/>
                </a:lnTo>
                <a:lnTo>
                  <a:pt x="5001471" y="1879341"/>
                </a:lnTo>
                <a:lnTo>
                  <a:pt x="0" y="1879341"/>
                </a:lnTo>
                <a:lnTo>
                  <a:pt x="0" y="0"/>
                </a:lnTo>
                <a:close/>
              </a:path>
            </a:pathLst>
          </a:custGeom>
          <a:blipFill>
            <a:blip r:embed="rId7"/>
            <a:stretch>
              <a:fillRect l="0" t="0" r="0" b="0"/>
            </a:stretch>
          </a:blipFill>
        </p:spPr>
      </p:sp>
      <p:sp>
        <p:nvSpPr>
          <p:cNvPr name="TextBox 9" id="9"/>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localhost:4200/productos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1028700" y="3212126"/>
            <a:ext cx="11301259" cy="6046174"/>
          </a:xfrm>
          <a:custGeom>
            <a:avLst/>
            <a:gdLst/>
            <a:ahLst/>
            <a:cxnLst/>
            <a:rect r="r" b="b" t="t" l="l"/>
            <a:pathLst>
              <a:path h="6046174" w="11301259">
                <a:moveTo>
                  <a:pt x="0" y="0"/>
                </a:moveTo>
                <a:lnTo>
                  <a:pt x="11301259" y="0"/>
                </a:lnTo>
                <a:lnTo>
                  <a:pt x="11301259" y="6046174"/>
                </a:lnTo>
                <a:lnTo>
                  <a:pt x="0" y="6046174"/>
                </a:lnTo>
                <a:lnTo>
                  <a:pt x="0" y="0"/>
                </a:lnTo>
                <a:close/>
              </a:path>
            </a:pathLst>
          </a:custGeom>
          <a:blipFill>
            <a:blip r:embed="rId6"/>
            <a:stretch>
              <a:fillRect l="0" t="0" r="0" b="0"/>
            </a:stretch>
          </a:blipFill>
        </p:spPr>
      </p:sp>
      <p:sp>
        <p:nvSpPr>
          <p:cNvPr name="Freeform 8" id="8"/>
          <p:cNvSpPr/>
          <p:nvPr/>
        </p:nvSpPr>
        <p:spPr>
          <a:xfrm flipH="false" flipV="false" rot="0">
            <a:off x="12452681" y="5143500"/>
            <a:ext cx="4806619" cy="1903029"/>
          </a:xfrm>
          <a:custGeom>
            <a:avLst/>
            <a:gdLst/>
            <a:ahLst/>
            <a:cxnLst/>
            <a:rect r="r" b="b" t="t" l="l"/>
            <a:pathLst>
              <a:path h="1903029" w="4806619">
                <a:moveTo>
                  <a:pt x="0" y="0"/>
                </a:moveTo>
                <a:lnTo>
                  <a:pt x="4806619" y="0"/>
                </a:lnTo>
                <a:lnTo>
                  <a:pt x="4806619" y="1903029"/>
                </a:lnTo>
                <a:lnTo>
                  <a:pt x="0" y="1903029"/>
                </a:lnTo>
                <a:lnTo>
                  <a:pt x="0" y="0"/>
                </a:lnTo>
                <a:close/>
              </a:path>
            </a:pathLst>
          </a:custGeom>
          <a:blipFill>
            <a:blip r:embed="rId7"/>
            <a:stretch>
              <a:fillRect l="0" t="0" r="0" b="0"/>
            </a:stretch>
          </a:blipFill>
        </p:spPr>
      </p:sp>
      <p:sp>
        <p:nvSpPr>
          <p:cNvPr name="TextBox 9" id="9"/>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localhost:4200/carrito-compras</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3493371" y="2837588"/>
            <a:ext cx="11301259" cy="6060300"/>
          </a:xfrm>
          <a:custGeom>
            <a:avLst/>
            <a:gdLst/>
            <a:ahLst/>
            <a:cxnLst/>
            <a:rect r="r" b="b" t="t" l="l"/>
            <a:pathLst>
              <a:path h="6060300" w="11301259">
                <a:moveTo>
                  <a:pt x="0" y="0"/>
                </a:moveTo>
                <a:lnTo>
                  <a:pt x="11301258" y="0"/>
                </a:lnTo>
                <a:lnTo>
                  <a:pt x="11301258" y="6060300"/>
                </a:lnTo>
                <a:lnTo>
                  <a:pt x="0" y="6060300"/>
                </a:lnTo>
                <a:lnTo>
                  <a:pt x="0" y="0"/>
                </a:lnTo>
                <a:close/>
              </a:path>
            </a:pathLst>
          </a:custGeom>
          <a:blipFill>
            <a:blip r:embed="rId6"/>
            <a:stretch>
              <a:fillRect l="0" t="0" r="0" b="0"/>
            </a:stretch>
          </a:blipFill>
        </p:spPr>
      </p:sp>
      <p:sp>
        <p:nvSpPr>
          <p:cNvPr name="TextBox 8" id="8"/>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localhost:4200/pedidos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3045851" y="2798013"/>
            <a:ext cx="6098149" cy="5923917"/>
          </a:xfrm>
          <a:custGeom>
            <a:avLst/>
            <a:gdLst/>
            <a:ahLst/>
            <a:cxnLst/>
            <a:rect r="r" b="b" t="t" l="l"/>
            <a:pathLst>
              <a:path h="5923917" w="6098149">
                <a:moveTo>
                  <a:pt x="0" y="0"/>
                </a:moveTo>
                <a:lnTo>
                  <a:pt x="6098149" y="0"/>
                </a:lnTo>
                <a:lnTo>
                  <a:pt x="6098149" y="5923917"/>
                </a:lnTo>
                <a:lnTo>
                  <a:pt x="0" y="5923917"/>
                </a:lnTo>
                <a:lnTo>
                  <a:pt x="0" y="0"/>
                </a:lnTo>
                <a:close/>
              </a:path>
            </a:pathLst>
          </a:custGeom>
          <a:blipFill>
            <a:blip r:embed="rId6"/>
            <a:stretch>
              <a:fillRect l="0" t="0" r="0" b="0"/>
            </a:stretch>
          </a:blipFill>
        </p:spPr>
      </p:sp>
      <p:sp>
        <p:nvSpPr>
          <p:cNvPr name="Freeform 8" id="8"/>
          <p:cNvSpPr/>
          <p:nvPr/>
        </p:nvSpPr>
        <p:spPr>
          <a:xfrm flipH="false" flipV="false" rot="0">
            <a:off x="9687865" y="4510208"/>
            <a:ext cx="4907081" cy="1841420"/>
          </a:xfrm>
          <a:custGeom>
            <a:avLst/>
            <a:gdLst/>
            <a:ahLst/>
            <a:cxnLst/>
            <a:rect r="r" b="b" t="t" l="l"/>
            <a:pathLst>
              <a:path h="1841420" w="4907081">
                <a:moveTo>
                  <a:pt x="0" y="0"/>
                </a:moveTo>
                <a:lnTo>
                  <a:pt x="4907081" y="0"/>
                </a:lnTo>
                <a:lnTo>
                  <a:pt x="4907081" y="1841420"/>
                </a:lnTo>
                <a:lnTo>
                  <a:pt x="0" y="1841420"/>
                </a:lnTo>
                <a:lnTo>
                  <a:pt x="0" y="0"/>
                </a:lnTo>
                <a:close/>
              </a:path>
            </a:pathLst>
          </a:custGeom>
          <a:blipFill>
            <a:blip r:embed="rId7"/>
            <a:stretch>
              <a:fillRect l="0" t="0" r="0" b="0"/>
            </a:stretch>
          </a:blipFill>
        </p:spPr>
      </p:sp>
      <p:sp>
        <p:nvSpPr>
          <p:cNvPr name="TextBox 9" id="9"/>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localhost:4200/pedidos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49323" y="5867738"/>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5"/>
            <a:stretch>
              <a:fillRect l="0" t="0" r="0" b="0"/>
            </a:stretch>
          </a:blipFill>
        </p:spPr>
      </p:sp>
      <p:sp>
        <p:nvSpPr>
          <p:cNvPr name="Freeform 7" id="7"/>
          <p:cNvSpPr/>
          <p:nvPr/>
        </p:nvSpPr>
        <p:spPr>
          <a:xfrm flipH="false" flipV="false" rot="0">
            <a:off x="955035" y="2883406"/>
            <a:ext cx="6702084" cy="2889082"/>
          </a:xfrm>
          <a:custGeom>
            <a:avLst/>
            <a:gdLst/>
            <a:ahLst/>
            <a:cxnLst/>
            <a:rect r="r" b="b" t="t" l="l"/>
            <a:pathLst>
              <a:path h="2889082" w="6702084">
                <a:moveTo>
                  <a:pt x="0" y="0"/>
                </a:moveTo>
                <a:lnTo>
                  <a:pt x="6702084" y="0"/>
                </a:lnTo>
                <a:lnTo>
                  <a:pt x="6702084" y="2889082"/>
                </a:lnTo>
                <a:lnTo>
                  <a:pt x="0" y="2889082"/>
                </a:lnTo>
                <a:lnTo>
                  <a:pt x="0" y="0"/>
                </a:lnTo>
                <a:close/>
              </a:path>
            </a:pathLst>
          </a:custGeom>
          <a:blipFill>
            <a:blip r:embed="rId6"/>
            <a:stretch>
              <a:fillRect l="0" t="0" r="0" b="0"/>
            </a:stretch>
          </a:blipFill>
        </p:spPr>
      </p:sp>
      <p:sp>
        <p:nvSpPr>
          <p:cNvPr name="Freeform 8" id="8"/>
          <p:cNvSpPr/>
          <p:nvPr/>
        </p:nvSpPr>
        <p:spPr>
          <a:xfrm flipH="false" flipV="false" rot="0">
            <a:off x="8675767" y="2883406"/>
            <a:ext cx="8583533" cy="5083115"/>
          </a:xfrm>
          <a:custGeom>
            <a:avLst/>
            <a:gdLst/>
            <a:ahLst/>
            <a:cxnLst/>
            <a:rect r="r" b="b" t="t" l="l"/>
            <a:pathLst>
              <a:path h="5083115" w="8583533">
                <a:moveTo>
                  <a:pt x="0" y="0"/>
                </a:moveTo>
                <a:lnTo>
                  <a:pt x="8583533" y="0"/>
                </a:lnTo>
                <a:lnTo>
                  <a:pt x="8583533" y="5083114"/>
                </a:lnTo>
                <a:lnTo>
                  <a:pt x="0" y="5083114"/>
                </a:lnTo>
                <a:lnTo>
                  <a:pt x="0" y="0"/>
                </a:lnTo>
                <a:close/>
              </a:path>
            </a:pathLst>
          </a:custGeom>
          <a:blipFill>
            <a:blip r:embed="rId7"/>
            <a:stretch>
              <a:fillRect l="0" t="0" r="0" b="0"/>
            </a:stretch>
          </a:blipFill>
        </p:spPr>
      </p:sp>
      <p:sp>
        <p:nvSpPr>
          <p:cNvPr name="Freeform 9" id="9"/>
          <p:cNvSpPr/>
          <p:nvPr/>
        </p:nvSpPr>
        <p:spPr>
          <a:xfrm flipH="false" flipV="false" rot="0">
            <a:off x="955035" y="6254711"/>
            <a:ext cx="6702084" cy="2760802"/>
          </a:xfrm>
          <a:custGeom>
            <a:avLst/>
            <a:gdLst/>
            <a:ahLst/>
            <a:cxnLst/>
            <a:rect r="r" b="b" t="t" l="l"/>
            <a:pathLst>
              <a:path h="2760802" w="6702084">
                <a:moveTo>
                  <a:pt x="0" y="0"/>
                </a:moveTo>
                <a:lnTo>
                  <a:pt x="6702084" y="0"/>
                </a:lnTo>
                <a:lnTo>
                  <a:pt x="6702084" y="2760801"/>
                </a:lnTo>
                <a:lnTo>
                  <a:pt x="0" y="2760801"/>
                </a:lnTo>
                <a:lnTo>
                  <a:pt x="0" y="0"/>
                </a:lnTo>
                <a:close/>
              </a:path>
            </a:pathLst>
          </a:custGeom>
          <a:blipFill>
            <a:blip r:embed="rId8"/>
            <a:stretch>
              <a:fillRect l="0" t="0" r="0" b="0"/>
            </a:stretch>
          </a:blipFill>
        </p:spPr>
      </p:sp>
      <p:sp>
        <p:nvSpPr>
          <p:cNvPr name="TextBox 10" id="10"/>
          <p:cNvSpPr txBox="true"/>
          <p:nvPr/>
        </p:nvSpPr>
        <p:spPr>
          <a:xfrm rot="0">
            <a:off x="1601191" y="1849019"/>
            <a:ext cx="14516632" cy="414485"/>
          </a:xfrm>
          <a:prstGeom prst="rect">
            <a:avLst/>
          </a:prstGeom>
        </p:spPr>
        <p:txBody>
          <a:bodyPr anchor="t" rtlCol="false" tIns="0" lIns="0" bIns="0" rIns="0">
            <a:spAutoFit/>
          </a:bodyPr>
          <a:lstStyle/>
          <a:p>
            <a:pPr algn="ctr">
              <a:lnSpc>
                <a:spcPts val="3397"/>
              </a:lnSpc>
            </a:pPr>
            <a:r>
              <a:rPr lang="en-US" sz="2613" b="true">
                <a:solidFill>
                  <a:srgbClr val="04E1F9"/>
                </a:solidFill>
                <a:latin typeface="Montserrat Bold"/>
                <a:ea typeface="Montserrat Bold"/>
                <a:cs typeface="Montserrat Bold"/>
                <a:sym typeface="Montserrat Bold"/>
              </a:rPr>
              <a:t>localhost:8080/api/v1/pedido/10/pdf</a:t>
            </a:r>
          </a:p>
        </p:txBody>
      </p:sp>
      <p:sp>
        <p:nvSpPr>
          <p:cNvPr name="TextBox 11" id="11"/>
          <p:cNvSpPr txBox="true"/>
          <p:nvPr/>
        </p:nvSpPr>
        <p:spPr>
          <a:xfrm rot="0">
            <a:off x="503048" y="2845306"/>
            <a:ext cx="184993" cy="600540"/>
          </a:xfrm>
          <a:prstGeom prst="rect">
            <a:avLst/>
          </a:prstGeom>
        </p:spPr>
        <p:txBody>
          <a:bodyPr anchor="t" rtlCol="false" tIns="0" lIns="0" bIns="0" rIns="0">
            <a:spAutoFit/>
          </a:bodyPr>
          <a:lstStyle/>
          <a:p>
            <a:pPr algn="ctr">
              <a:lnSpc>
                <a:spcPts val="4827"/>
              </a:lnSpc>
              <a:spcBef>
                <a:spcPct val="0"/>
              </a:spcBef>
            </a:pPr>
            <a:r>
              <a:rPr lang="en-US" b="true" sz="3713">
                <a:solidFill>
                  <a:srgbClr val="04E1F9"/>
                </a:solidFill>
                <a:latin typeface="Montserrat Bold"/>
                <a:ea typeface="Montserrat Bold"/>
                <a:cs typeface="Montserrat Bold"/>
                <a:sym typeface="Montserrat Bold"/>
              </a:rPr>
              <a:t>1</a:t>
            </a:r>
          </a:p>
        </p:txBody>
      </p:sp>
      <p:sp>
        <p:nvSpPr>
          <p:cNvPr name="TextBox 12" id="12"/>
          <p:cNvSpPr txBox="true"/>
          <p:nvPr/>
        </p:nvSpPr>
        <p:spPr>
          <a:xfrm rot="0">
            <a:off x="8220973" y="2845306"/>
            <a:ext cx="278309" cy="1210140"/>
          </a:xfrm>
          <a:prstGeom prst="rect">
            <a:avLst/>
          </a:prstGeom>
        </p:spPr>
        <p:txBody>
          <a:bodyPr anchor="t" rtlCol="false" tIns="0" lIns="0" bIns="0" rIns="0">
            <a:spAutoFit/>
          </a:bodyPr>
          <a:lstStyle/>
          <a:p>
            <a:pPr algn="ctr">
              <a:lnSpc>
                <a:spcPts val="4827"/>
              </a:lnSpc>
              <a:spcBef>
                <a:spcPct val="0"/>
              </a:spcBef>
            </a:pPr>
            <a:r>
              <a:rPr lang="en-US" b="true" sz="3713">
                <a:solidFill>
                  <a:srgbClr val="04E1F9"/>
                </a:solidFill>
                <a:latin typeface="Montserrat Bold"/>
                <a:ea typeface="Montserrat Bold"/>
                <a:cs typeface="Montserrat Bold"/>
                <a:sym typeface="Montserrat Bold"/>
              </a:rPr>
              <a:t>2</a:t>
            </a:r>
          </a:p>
          <a:p>
            <a:pPr algn="ctr">
              <a:lnSpc>
                <a:spcPts val="4827"/>
              </a:lnSpc>
              <a:spcBef>
                <a:spcPct val="0"/>
              </a:spcBef>
            </a:pPr>
          </a:p>
        </p:txBody>
      </p:sp>
      <p:sp>
        <p:nvSpPr>
          <p:cNvPr name="TextBox 13" id="13"/>
          <p:cNvSpPr txBox="true"/>
          <p:nvPr/>
        </p:nvSpPr>
        <p:spPr>
          <a:xfrm rot="0">
            <a:off x="455944" y="6007048"/>
            <a:ext cx="279202" cy="600540"/>
          </a:xfrm>
          <a:prstGeom prst="rect">
            <a:avLst/>
          </a:prstGeom>
        </p:spPr>
        <p:txBody>
          <a:bodyPr anchor="t" rtlCol="false" tIns="0" lIns="0" bIns="0" rIns="0">
            <a:spAutoFit/>
          </a:bodyPr>
          <a:lstStyle/>
          <a:p>
            <a:pPr algn="ctr">
              <a:lnSpc>
                <a:spcPts val="4827"/>
              </a:lnSpc>
              <a:spcBef>
                <a:spcPct val="0"/>
              </a:spcBef>
            </a:pPr>
            <a:r>
              <a:rPr lang="en-US" b="true" sz="3713">
                <a:solidFill>
                  <a:srgbClr val="04E1F9"/>
                </a:solidFill>
                <a:latin typeface="Montserrat Bold"/>
                <a:ea typeface="Montserrat Bold"/>
                <a:cs typeface="Montserrat Bold"/>
                <a:sym typeface="Montserrat Bold"/>
              </a:rPr>
              <a:t>3</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9364105" y="-648317"/>
            <a:ext cx="7298788" cy="5633875"/>
            <a:chOff x="0" y="0"/>
            <a:chExt cx="1130773" cy="872835"/>
          </a:xfrm>
        </p:grpSpPr>
        <p:sp>
          <p:nvSpPr>
            <p:cNvPr name="Freeform 5" id="5"/>
            <p:cNvSpPr/>
            <p:nvPr/>
          </p:nvSpPr>
          <p:spPr>
            <a:xfrm flipH="false" flipV="false" rot="0">
              <a:off x="0" y="0"/>
              <a:ext cx="1130773" cy="872835"/>
            </a:xfrm>
            <a:custGeom>
              <a:avLst/>
              <a:gdLst/>
              <a:ahLst/>
              <a:cxnLst/>
              <a:rect r="r" b="b" t="t" l="l"/>
              <a:pathLst>
                <a:path h="872835" w="1130773">
                  <a:moveTo>
                    <a:pt x="38186" y="0"/>
                  </a:moveTo>
                  <a:lnTo>
                    <a:pt x="1092588" y="0"/>
                  </a:lnTo>
                  <a:cubicBezTo>
                    <a:pt x="1113677" y="0"/>
                    <a:pt x="1130773" y="17096"/>
                    <a:pt x="1130773" y="38186"/>
                  </a:cubicBezTo>
                  <a:lnTo>
                    <a:pt x="1130773" y="834649"/>
                  </a:lnTo>
                  <a:cubicBezTo>
                    <a:pt x="1130773" y="855738"/>
                    <a:pt x="1113677" y="872835"/>
                    <a:pt x="1092588" y="872835"/>
                  </a:cubicBezTo>
                  <a:lnTo>
                    <a:pt x="38186" y="872835"/>
                  </a:lnTo>
                  <a:cubicBezTo>
                    <a:pt x="17096" y="872835"/>
                    <a:pt x="0" y="855738"/>
                    <a:pt x="0" y="834649"/>
                  </a:cubicBezTo>
                  <a:lnTo>
                    <a:pt x="0" y="38186"/>
                  </a:lnTo>
                  <a:cubicBezTo>
                    <a:pt x="0" y="17096"/>
                    <a:pt x="17096" y="0"/>
                    <a:pt x="38186" y="0"/>
                  </a:cubicBezTo>
                  <a:close/>
                </a:path>
              </a:pathLst>
            </a:custGeom>
            <a:blipFill>
              <a:blip r:embed="rId5"/>
              <a:stretch>
                <a:fillRect l="-16784" t="0" r="-20440" b="0"/>
              </a:stretch>
            </a:blipFill>
          </p:spPr>
        </p:sp>
      </p:grpSp>
      <p:grpSp>
        <p:nvGrpSpPr>
          <p:cNvPr name="Group 6" id="6"/>
          <p:cNvGrpSpPr/>
          <p:nvPr/>
        </p:nvGrpSpPr>
        <p:grpSpPr>
          <a:xfrm rot="0">
            <a:off x="9364105" y="5301442"/>
            <a:ext cx="7298788" cy="5633875"/>
            <a:chOff x="0" y="0"/>
            <a:chExt cx="1130773" cy="872835"/>
          </a:xfrm>
        </p:grpSpPr>
        <p:sp>
          <p:nvSpPr>
            <p:cNvPr name="Freeform 7" id="7"/>
            <p:cNvSpPr/>
            <p:nvPr/>
          </p:nvSpPr>
          <p:spPr>
            <a:xfrm flipH="true" flipV="false" rot="0">
              <a:off x="0" y="0"/>
              <a:ext cx="1130773" cy="872835"/>
            </a:xfrm>
            <a:custGeom>
              <a:avLst/>
              <a:gdLst/>
              <a:ahLst/>
              <a:cxnLst/>
              <a:rect r="r" b="b" t="t" l="l"/>
              <a:pathLst>
                <a:path h="872835" w="1130773">
                  <a:moveTo>
                    <a:pt x="1092588" y="0"/>
                  </a:moveTo>
                  <a:lnTo>
                    <a:pt x="38186" y="0"/>
                  </a:lnTo>
                  <a:cubicBezTo>
                    <a:pt x="17096" y="0"/>
                    <a:pt x="0" y="17096"/>
                    <a:pt x="0" y="38186"/>
                  </a:cubicBezTo>
                  <a:lnTo>
                    <a:pt x="0" y="834649"/>
                  </a:lnTo>
                  <a:cubicBezTo>
                    <a:pt x="0" y="855738"/>
                    <a:pt x="17096" y="872835"/>
                    <a:pt x="38186" y="872835"/>
                  </a:cubicBezTo>
                  <a:lnTo>
                    <a:pt x="1092588" y="872835"/>
                  </a:lnTo>
                  <a:cubicBezTo>
                    <a:pt x="1113677" y="872835"/>
                    <a:pt x="1130773" y="855738"/>
                    <a:pt x="1130773" y="834649"/>
                  </a:cubicBezTo>
                  <a:lnTo>
                    <a:pt x="1130773" y="38186"/>
                  </a:lnTo>
                  <a:cubicBezTo>
                    <a:pt x="1130773" y="17096"/>
                    <a:pt x="1113677" y="0"/>
                    <a:pt x="1092588" y="0"/>
                  </a:cubicBezTo>
                  <a:close/>
                </a:path>
              </a:pathLst>
            </a:custGeom>
            <a:blipFill>
              <a:blip r:embed="rId6"/>
              <a:stretch>
                <a:fillRect l="-7819" t="0" r="-7819" b="0"/>
              </a:stretch>
            </a:blipFill>
          </p:spPr>
        </p:sp>
      </p:grpSp>
      <p:sp>
        <p:nvSpPr>
          <p:cNvPr name="Freeform 8" id="8"/>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232865" y="3082825"/>
            <a:ext cx="7187919" cy="827958"/>
          </a:xfrm>
          <a:prstGeom prst="rect">
            <a:avLst/>
          </a:prstGeom>
        </p:spPr>
        <p:txBody>
          <a:bodyPr anchor="t" rtlCol="false" tIns="0" lIns="0" bIns="0" rIns="0">
            <a:spAutoFit/>
          </a:bodyPr>
          <a:lstStyle/>
          <a:p>
            <a:pPr algn="ctr">
              <a:lnSpc>
                <a:spcPts val="6864"/>
              </a:lnSpc>
              <a:spcBef>
                <a:spcPct val="0"/>
              </a:spcBef>
            </a:pPr>
            <a:r>
              <a:rPr lang="en-US" b="true" sz="4903">
                <a:solidFill>
                  <a:srgbClr val="FFFFFF"/>
                </a:solidFill>
                <a:latin typeface="Montaser Arabic Ultra-Bold"/>
                <a:ea typeface="Montaser Arabic Ultra-Bold"/>
                <a:cs typeface="Montaser Arabic Ultra-Bold"/>
                <a:sym typeface="Montaser Arabic Ultra-Bold"/>
              </a:rPr>
              <a:t>Conclusiones</a:t>
            </a:r>
          </a:p>
        </p:txBody>
      </p:sp>
      <p:sp>
        <p:nvSpPr>
          <p:cNvPr name="TextBox 10" id="10"/>
          <p:cNvSpPr txBox="true"/>
          <p:nvPr/>
        </p:nvSpPr>
        <p:spPr>
          <a:xfrm rot="0">
            <a:off x="1736738" y="4300390"/>
            <a:ext cx="6148742" cy="843110"/>
          </a:xfrm>
          <a:prstGeom prst="rect">
            <a:avLst/>
          </a:prstGeom>
        </p:spPr>
        <p:txBody>
          <a:bodyPr anchor="t" rtlCol="false" tIns="0" lIns="0" bIns="0" rIns="0">
            <a:spAutoFit/>
          </a:bodyPr>
          <a:lstStyle/>
          <a:p>
            <a:pPr algn="l">
              <a:lnSpc>
                <a:spcPts val="3397"/>
              </a:lnSpc>
            </a:pPr>
            <a:r>
              <a:rPr lang="en-US" sz="2613" b="true">
                <a:solidFill>
                  <a:srgbClr val="04E1F9"/>
                </a:solidFill>
                <a:latin typeface="Montserrat Bold"/>
                <a:ea typeface="Montserrat Bold"/>
                <a:cs typeface="Montserrat Bold"/>
                <a:sym typeface="Montserrat Bold"/>
              </a:rPr>
              <a:t>ECOMMERS DE PRODUCTOS TECNOLOGICOS</a:t>
            </a:r>
          </a:p>
        </p:txBody>
      </p:sp>
      <p:sp>
        <p:nvSpPr>
          <p:cNvPr name="TextBox 11" id="11"/>
          <p:cNvSpPr txBox="true"/>
          <p:nvPr/>
        </p:nvSpPr>
        <p:spPr>
          <a:xfrm rot="0">
            <a:off x="2445109" y="5549029"/>
            <a:ext cx="4426933" cy="641350"/>
          </a:xfrm>
          <a:prstGeom prst="rect">
            <a:avLst/>
          </a:prstGeom>
        </p:spPr>
        <p:txBody>
          <a:bodyPr anchor="t" rtlCol="false" tIns="0" lIns="0" bIns="0" rIns="0">
            <a:spAutoFit/>
          </a:bodyPr>
          <a:lstStyle/>
          <a:p>
            <a:pPr algn="ctr">
              <a:lnSpc>
                <a:spcPts val="2600"/>
              </a:lnSpc>
            </a:pPr>
            <a:r>
              <a:rPr lang="en-US" sz="2000">
                <a:solidFill>
                  <a:srgbClr val="FFFFFF"/>
                </a:solidFill>
                <a:latin typeface="Montserrat"/>
                <a:ea typeface="Montserrat"/>
                <a:cs typeface="Montserrat"/>
                <a:sym typeface="Montserrat"/>
              </a:rPr>
              <a:t>florear</a:t>
            </a:r>
          </a:p>
          <a:p>
            <a:pPr algn="just">
              <a:lnSpc>
                <a:spcPts val="2600"/>
              </a:lnSpc>
            </a:pPr>
          </a:p>
        </p:txBody>
      </p:sp>
      <p:sp>
        <p:nvSpPr>
          <p:cNvPr name="Freeform 12" id="12"/>
          <p:cNvSpPr/>
          <p:nvPr/>
        </p:nvSpPr>
        <p:spPr>
          <a:xfrm flipH="false" flipV="false" rot="0">
            <a:off x="3583821" y="6614958"/>
            <a:ext cx="4836963" cy="846468"/>
          </a:xfrm>
          <a:custGeom>
            <a:avLst/>
            <a:gdLst/>
            <a:ahLst/>
            <a:cxnLst/>
            <a:rect r="r" b="b" t="t" l="l"/>
            <a:pathLst>
              <a:path h="846468" w="4836963">
                <a:moveTo>
                  <a:pt x="0" y="0"/>
                </a:moveTo>
                <a:lnTo>
                  <a:pt x="4836963" y="0"/>
                </a:lnTo>
                <a:lnTo>
                  <a:pt x="4836963" y="846468"/>
                </a:lnTo>
                <a:lnTo>
                  <a:pt x="0" y="846468"/>
                </a:lnTo>
                <a:lnTo>
                  <a:pt x="0" y="0"/>
                </a:lnTo>
                <a:close/>
              </a:path>
            </a:pathLst>
          </a:custGeom>
          <a:blipFill>
            <a:blip r:embed="rId7"/>
            <a:stretch>
              <a:fillRect l="0" t="0" r="0" b="0"/>
            </a:stretch>
          </a:blipFill>
        </p:spPr>
      </p:sp>
      <p:sp>
        <p:nvSpPr>
          <p:cNvPr name="Freeform 13" id="13"/>
          <p:cNvSpPr/>
          <p:nvPr/>
        </p:nvSpPr>
        <p:spPr>
          <a:xfrm flipH="false" flipV="false" rot="0">
            <a:off x="751057" y="589264"/>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8"/>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2461" t="-15029" r="0" b="-18174"/>
            </a:stretch>
          </a:blipFill>
        </p:spPr>
      </p:sp>
      <p:grpSp>
        <p:nvGrpSpPr>
          <p:cNvPr name="Group 3" id="3"/>
          <p:cNvGrpSpPr/>
          <p:nvPr/>
        </p:nvGrpSpPr>
        <p:grpSpPr>
          <a:xfrm rot="0">
            <a:off x="0" y="0"/>
            <a:ext cx="12071988" cy="10287000"/>
            <a:chOff x="0" y="0"/>
            <a:chExt cx="3179454" cy="2709333"/>
          </a:xfrm>
        </p:grpSpPr>
        <p:sp>
          <p:nvSpPr>
            <p:cNvPr name="Freeform 4" id="4"/>
            <p:cNvSpPr/>
            <p:nvPr/>
          </p:nvSpPr>
          <p:spPr>
            <a:xfrm flipH="false" flipV="false" rot="0">
              <a:off x="0" y="0"/>
              <a:ext cx="3179454" cy="2709333"/>
            </a:xfrm>
            <a:custGeom>
              <a:avLst/>
              <a:gdLst/>
              <a:ahLst/>
              <a:cxnLst/>
              <a:rect r="r" b="b" t="t" l="l"/>
              <a:pathLst>
                <a:path h="2709333" w="3179454">
                  <a:moveTo>
                    <a:pt x="0" y="0"/>
                  </a:moveTo>
                  <a:lnTo>
                    <a:pt x="3179454" y="0"/>
                  </a:lnTo>
                  <a:lnTo>
                    <a:pt x="3179454" y="2709333"/>
                  </a:lnTo>
                  <a:lnTo>
                    <a:pt x="0" y="2709333"/>
                  </a:lnTo>
                  <a:close/>
                </a:path>
              </a:pathLst>
            </a:custGeom>
            <a:gradFill rotWithShape="true">
              <a:gsLst>
                <a:gs pos="0">
                  <a:srgbClr val="000000">
                    <a:alpha val="100000"/>
                  </a:srgbClr>
                </a:gs>
                <a:gs pos="33333">
                  <a:srgbClr val="000000">
                    <a:alpha val="100000"/>
                  </a:srgbClr>
                </a:gs>
                <a:gs pos="66667">
                  <a:srgbClr val="000000">
                    <a:alpha val="82500"/>
                  </a:srgbClr>
                </a:gs>
                <a:gs pos="100000">
                  <a:srgbClr val="000000">
                    <a:alpha val="0"/>
                  </a:srgbClr>
                </a:gs>
              </a:gsLst>
              <a:lin ang="0"/>
            </a:gradFill>
          </p:spPr>
        </p:sp>
        <p:sp>
          <p:nvSpPr>
            <p:cNvPr name="TextBox 5" id="5"/>
            <p:cNvSpPr txBox="true"/>
            <p:nvPr/>
          </p:nvSpPr>
          <p:spPr>
            <a:xfrm>
              <a:off x="0" y="-19050"/>
              <a:ext cx="3179454" cy="2728383"/>
            </a:xfrm>
            <a:prstGeom prst="rect">
              <a:avLst/>
            </a:prstGeom>
          </p:spPr>
          <p:txBody>
            <a:bodyPr anchor="ctr" rtlCol="false" tIns="50800" lIns="50800" bIns="50800" rIns="50800"/>
            <a:lstStyle/>
            <a:p>
              <a:pPr algn="ctr">
                <a:lnSpc>
                  <a:spcPts val="2898"/>
                </a:lnSpc>
              </a:pPr>
            </a:p>
          </p:txBody>
        </p:sp>
      </p:grpSp>
      <p:grpSp>
        <p:nvGrpSpPr>
          <p:cNvPr name="Group 6" id="6"/>
          <p:cNvGrpSpPr/>
          <p:nvPr/>
        </p:nvGrpSpPr>
        <p:grpSpPr>
          <a:xfrm rot="0">
            <a:off x="4306077" y="7443744"/>
            <a:ext cx="5290838" cy="840036"/>
            <a:chOff x="0" y="0"/>
            <a:chExt cx="2559647" cy="406400"/>
          </a:xfrm>
        </p:grpSpPr>
        <p:sp>
          <p:nvSpPr>
            <p:cNvPr name="Freeform 7" id="7"/>
            <p:cNvSpPr/>
            <p:nvPr/>
          </p:nvSpPr>
          <p:spPr>
            <a:xfrm flipH="false" flipV="false" rot="0">
              <a:off x="0" y="0"/>
              <a:ext cx="2559647" cy="406400"/>
            </a:xfrm>
            <a:custGeom>
              <a:avLst/>
              <a:gdLst/>
              <a:ahLst/>
              <a:cxnLst/>
              <a:rect r="r" b="b" t="t" l="l"/>
              <a:pathLst>
                <a:path h="406400" w="2559647">
                  <a:moveTo>
                    <a:pt x="2356447" y="0"/>
                  </a:moveTo>
                  <a:cubicBezTo>
                    <a:pt x="2468671" y="0"/>
                    <a:pt x="2559647" y="90976"/>
                    <a:pt x="2559647" y="203200"/>
                  </a:cubicBezTo>
                  <a:cubicBezTo>
                    <a:pt x="2559647" y="315424"/>
                    <a:pt x="2468671" y="406400"/>
                    <a:pt x="2356447"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8" id="8"/>
            <p:cNvSpPr txBox="true"/>
            <p:nvPr/>
          </p:nvSpPr>
          <p:spPr>
            <a:xfrm>
              <a:off x="0" y="-38100"/>
              <a:ext cx="2559647"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37596" y="7443744"/>
            <a:ext cx="3483091" cy="840036"/>
            <a:chOff x="0" y="0"/>
            <a:chExt cx="1685080" cy="406400"/>
          </a:xfrm>
        </p:grpSpPr>
        <p:sp>
          <p:nvSpPr>
            <p:cNvPr name="Freeform 10" id="10"/>
            <p:cNvSpPr/>
            <p:nvPr/>
          </p:nvSpPr>
          <p:spPr>
            <a:xfrm flipH="false" flipV="false" rot="0">
              <a:off x="0" y="0"/>
              <a:ext cx="1685080" cy="406400"/>
            </a:xfrm>
            <a:custGeom>
              <a:avLst/>
              <a:gdLst/>
              <a:ahLst/>
              <a:cxnLst/>
              <a:rect r="r" b="b" t="t" l="l"/>
              <a:pathLst>
                <a:path h="406400" w="1685080">
                  <a:moveTo>
                    <a:pt x="1481880" y="0"/>
                  </a:moveTo>
                  <a:cubicBezTo>
                    <a:pt x="1594104" y="0"/>
                    <a:pt x="1685080" y="90976"/>
                    <a:pt x="1685080" y="203200"/>
                  </a:cubicBezTo>
                  <a:cubicBezTo>
                    <a:pt x="1685080" y="315424"/>
                    <a:pt x="1594104" y="406400"/>
                    <a:pt x="1481880"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002832">
                    <a:alpha val="100000"/>
                  </a:srgbClr>
                </a:gs>
                <a:gs pos="100000">
                  <a:srgbClr val="00B1C4">
                    <a:alpha val="100000"/>
                  </a:srgbClr>
                </a:gs>
              </a:gsLst>
              <a:lin ang="0"/>
            </a:gradFill>
          </p:spPr>
        </p:sp>
        <p:sp>
          <p:nvSpPr>
            <p:cNvPr name="TextBox 11" id="11"/>
            <p:cNvSpPr txBox="true"/>
            <p:nvPr/>
          </p:nvSpPr>
          <p:spPr>
            <a:xfrm>
              <a:off x="0" y="-38100"/>
              <a:ext cx="1685080"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832600" y="8721930"/>
            <a:ext cx="5138677" cy="4419262"/>
          </a:xfrm>
          <a:custGeom>
            <a:avLst/>
            <a:gdLst/>
            <a:ahLst/>
            <a:cxnLst/>
            <a:rect r="r" b="b" t="t" l="l"/>
            <a:pathLst>
              <a:path h="4419262" w="5138677">
                <a:moveTo>
                  <a:pt x="0" y="0"/>
                </a:moveTo>
                <a:lnTo>
                  <a:pt x="5138677" y="0"/>
                </a:lnTo>
                <a:lnTo>
                  <a:pt x="5138677"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265674" y="3752252"/>
            <a:ext cx="4787060" cy="1577938"/>
          </a:xfrm>
          <a:prstGeom prst="rect">
            <a:avLst/>
          </a:prstGeom>
        </p:spPr>
        <p:txBody>
          <a:bodyPr anchor="t" rtlCol="false" tIns="0" lIns="0" bIns="0" rIns="0">
            <a:spAutoFit/>
          </a:bodyPr>
          <a:lstStyle/>
          <a:p>
            <a:pPr algn="l">
              <a:lnSpc>
                <a:spcPts val="12969"/>
              </a:lnSpc>
              <a:spcBef>
                <a:spcPct val="0"/>
              </a:spcBef>
            </a:pPr>
            <a:r>
              <a:rPr lang="en-US" sz="9264" b="true">
                <a:solidFill>
                  <a:srgbClr val="FFFFFF"/>
                </a:solidFill>
                <a:latin typeface="Montaser Arabic Ultra-Bold"/>
                <a:ea typeface="Montaser Arabic Ultra-Bold"/>
                <a:cs typeface="Montaser Arabic Ultra-Bold"/>
                <a:sym typeface="Montaser Arabic Ultra-Bold"/>
              </a:rPr>
              <a:t>Gracias</a:t>
            </a:r>
          </a:p>
        </p:txBody>
      </p:sp>
      <p:sp>
        <p:nvSpPr>
          <p:cNvPr name="Freeform 14" id="14"/>
          <p:cNvSpPr/>
          <p:nvPr/>
        </p:nvSpPr>
        <p:spPr>
          <a:xfrm flipH="false" flipV="false" rot="0">
            <a:off x="6574661" y="-2875072"/>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17033327" y="4495800"/>
            <a:ext cx="5138677" cy="4419262"/>
          </a:xfrm>
          <a:custGeom>
            <a:avLst/>
            <a:gdLst/>
            <a:ahLst/>
            <a:cxnLst/>
            <a:rect r="r" b="b" t="t" l="l"/>
            <a:pathLst>
              <a:path h="4419262" w="5138677">
                <a:moveTo>
                  <a:pt x="0" y="0"/>
                </a:moveTo>
                <a:lnTo>
                  <a:pt x="5138678" y="0"/>
                </a:lnTo>
                <a:lnTo>
                  <a:pt x="5138678" y="4419262"/>
                </a:lnTo>
                <a:lnTo>
                  <a:pt x="0" y="4419262"/>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4759952" y="7835633"/>
            <a:ext cx="4836963" cy="846468"/>
          </a:xfrm>
          <a:custGeom>
            <a:avLst/>
            <a:gdLst/>
            <a:ahLst/>
            <a:cxnLst/>
            <a:rect r="r" b="b" t="t" l="l"/>
            <a:pathLst>
              <a:path h="846468" w="4836963">
                <a:moveTo>
                  <a:pt x="0" y="0"/>
                </a:moveTo>
                <a:lnTo>
                  <a:pt x="4836962" y="0"/>
                </a:lnTo>
                <a:lnTo>
                  <a:pt x="4836962" y="846469"/>
                </a:lnTo>
                <a:lnTo>
                  <a:pt x="0" y="846469"/>
                </a:lnTo>
                <a:lnTo>
                  <a:pt x="0" y="0"/>
                </a:lnTo>
                <a:close/>
              </a:path>
            </a:pathLst>
          </a:custGeom>
          <a:blipFill>
            <a:blip r:embed="rId5"/>
            <a:stretch>
              <a:fillRect l="0" t="0" r="0" b="0"/>
            </a:stretch>
          </a:blipFill>
        </p:spPr>
      </p:sp>
      <p:sp>
        <p:nvSpPr>
          <p:cNvPr name="Freeform 17" id="17"/>
          <p:cNvSpPr/>
          <p:nvPr/>
        </p:nvSpPr>
        <p:spPr>
          <a:xfrm flipH="false" flipV="false" rot="0">
            <a:off x="1720422" y="7177785"/>
            <a:ext cx="3039530" cy="531918"/>
          </a:xfrm>
          <a:custGeom>
            <a:avLst/>
            <a:gdLst/>
            <a:ahLst/>
            <a:cxnLst/>
            <a:rect r="r" b="b" t="t" l="l"/>
            <a:pathLst>
              <a:path h="531918" w="3039530">
                <a:moveTo>
                  <a:pt x="0" y="0"/>
                </a:moveTo>
                <a:lnTo>
                  <a:pt x="3039530" y="0"/>
                </a:lnTo>
                <a:lnTo>
                  <a:pt x="3039530" y="531917"/>
                </a:lnTo>
                <a:lnTo>
                  <a:pt x="0" y="531917"/>
                </a:lnTo>
                <a:lnTo>
                  <a:pt x="0" y="0"/>
                </a:lnTo>
                <a:close/>
              </a:path>
            </a:pathLst>
          </a:custGeom>
          <a:blipFill>
            <a:blip r:embed="rId5"/>
            <a:stretch>
              <a:fillRect l="0" t="0" r="0" b="0"/>
            </a:stretch>
          </a:blipFill>
        </p:spPr>
      </p:sp>
      <p:sp>
        <p:nvSpPr>
          <p:cNvPr name="TextBox 18" id="18"/>
          <p:cNvSpPr txBox="true"/>
          <p:nvPr/>
        </p:nvSpPr>
        <p:spPr>
          <a:xfrm rot="0">
            <a:off x="1519332" y="7628828"/>
            <a:ext cx="3324699" cy="441293"/>
          </a:xfrm>
          <a:prstGeom prst="rect">
            <a:avLst/>
          </a:prstGeom>
        </p:spPr>
        <p:txBody>
          <a:bodyPr anchor="t" rtlCol="false" tIns="0" lIns="0" bIns="0" rIns="0">
            <a:spAutoFit/>
          </a:bodyPr>
          <a:lstStyle/>
          <a:p>
            <a:pPr algn="ctr">
              <a:lnSpc>
                <a:spcPts val="3578"/>
              </a:lnSpc>
            </a:pPr>
            <a:r>
              <a:rPr lang="en-US" sz="2752">
                <a:solidFill>
                  <a:srgbClr val="FFFFFF"/>
                </a:solidFill>
                <a:latin typeface="Montserrat"/>
                <a:ea typeface="Montserrat"/>
                <a:cs typeface="Montserrat"/>
                <a:sym typeface="Montserrat"/>
              </a:rPr>
              <a:t>Presentación</a:t>
            </a:r>
          </a:p>
        </p:txBody>
      </p:sp>
      <p:sp>
        <p:nvSpPr>
          <p:cNvPr name="TextBox 19" id="19"/>
          <p:cNvSpPr txBox="true"/>
          <p:nvPr/>
        </p:nvSpPr>
        <p:spPr>
          <a:xfrm rot="0">
            <a:off x="6454113" y="7681127"/>
            <a:ext cx="1957412" cy="441293"/>
          </a:xfrm>
          <a:prstGeom prst="rect">
            <a:avLst/>
          </a:prstGeom>
        </p:spPr>
        <p:txBody>
          <a:bodyPr anchor="t" rtlCol="false" tIns="0" lIns="0" bIns="0" rIns="0">
            <a:spAutoFit/>
          </a:bodyPr>
          <a:lstStyle/>
          <a:p>
            <a:pPr algn="l">
              <a:lnSpc>
                <a:spcPts val="3578"/>
              </a:lnSpc>
            </a:pPr>
            <a:r>
              <a:rPr lang="en-US" sz="2752" b="true">
                <a:solidFill>
                  <a:srgbClr val="FFFFFF"/>
                </a:solidFill>
                <a:latin typeface="Montserrat Bold"/>
                <a:ea typeface="Montserrat Bold"/>
                <a:cs typeface="Montserrat Bold"/>
                <a:sym typeface="Montserrat Bold"/>
              </a:rPr>
              <a:t>Grupo 03</a:t>
            </a:r>
          </a:p>
        </p:txBody>
      </p:sp>
      <p:sp>
        <p:nvSpPr>
          <p:cNvPr name="Freeform 20" id="20"/>
          <p:cNvSpPr/>
          <p:nvPr/>
        </p:nvSpPr>
        <p:spPr>
          <a:xfrm flipH="false" flipV="false" rot="0">
            <a:off x="548887" y="570826"/>
            <a:ext cx="2104607" cy="507134"/>
          </a:xfrm>
          <a:custGeom>
            <a:avLst/>
            <a:gdLst/>
            <a:ahLst/>
            <a:cxnLst/>
            <a:rect r="r" b="b" t="t" l="l"/>
            <a:pathLst>
              <a:path h="507134" w="2104607">
                <a:moveTo>
                  <a:pt x="0" y="0"/>
                </a:moveTo>
                <a:lnTo>
                  <a:pt x="2104607" y="0"/>
                </a:lnTo>
                <a:lnTo>
                  <a:pt x="2104607" y="507134"/>
                </a:lnTo>
                <a:lnTo>
                  <a:pt x="0" y="507134"/>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DAGr1YZoy7E</dc:identifier>
  <dcterms:modified xsi:type="dcterms:W3CDTF">2011-08-01T06:04:30Z</dcterms:modified>
  <cp:revision>1</cp:revision>
  <dc:title>Black and Blue Modern AI and Machine Learning Presentation</dc:title>
</cp:coreProperties>
</file>